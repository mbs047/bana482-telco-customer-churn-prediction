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61"/>
  </p:normalViewPr>
  <p:slideViewPr>
    <p:cSldViewPr snapToGrid="0">
      <p:cViewPr varScale="1">
        <p:scale>
          <a:sx n="71" d="100"/>
          <a:sy n="71" d="100"/>
        </p:scale>
        <p:origin x="17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AF5A2E-6950-4639-8B33-DBA81221B01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5751B10-B73B-4984-8F73-83F4B52BEAC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Identify customers at high risk of churn</a:t>
          </a:r>
          <a:endParaRPr lang="en-US"/>
        </a:p>
      </dgm:t>
    </dgm:pt>
    <dgm:pt modelId="{D8B16C4A-3D09-42D9-BED8-ED6E472A8C01}" type="parTrans" cxnId="{99FD10E8-53FC-4D35-888D-193BFF147355}">
      <dgm:prSet/>
      <dgm:spPr/>
      <dgm:t>
        <a:bodyPr/>
        <a:lstStyle/>
        <a:p>
          <a:endParaRPr lang="en-US"/>
        </a:p>
      </dgm:t>
    </dgm:pt>
    <dgm:pt modelId="{C0D35E3A-7094-475C-86CE-695BEC778613}" type="sibTrans" cxnId="{99FD10E8-53FC-4D35-888D-193BFF147355}">
      <dgm:prSet/>
      <dgm:spPr/>
      <dgm:t>
        <a:bodyPr/>
        <a:lstStyle/>
        <a:p>
          <a:endParaRPr lang="en-US"/>
        </a:p>
      </dgm:t>
    </dgm:pt>
    <dgm:pt modelId="{57CAE56C-B3EA-48D2-A25B-48950ABA69C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Understand key drivers of churn behavior</a:t>
          </a:r>
          <a:endParaRPr lang="en-US"/>
        </a:p>
      </dgm:t>
    </dgm:pt>
    <dgm:pt modelId="{91B629D7-087C-40DB-8F69-FA9D0FDC9526}" type="parTrans" cxnId="{76A84A90-C1B2-49E3-9A44-CD68C5527785}">
      <dgm:prSet/>
      <dgm:spPr/>
      <dgm:t>
        <a:bodyPr/>
        <a:lstStyle/>
        <a:p>
          <a:endParaRPr lang="en-US"/>
        </a:p>
      </dgm:t>
    </dgm:pt>
    <dgm:pt modelId="{911CCC18-5692-46CE-89EA-C0AC337FBF48}" type="sibTrans" cxnId="{76A84A90-C1B2-49E3-9A44-CD68C5527785}">
      <dgm:prSet/>
      <dgm:spPr/>
      <dgm:t>
        <a:bodyPr/>
        <a:lstStyle/>
        <a:p>
          <a:endParaRPr lang="en-US"/>
        </a:p>
      </dgm:t>
    </dgm:pt>
    <dgm:pt modelId="{E3B22725-025F-49E9-9D0D-422D0C5FDB6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Support targeted retention strategies</a:t>
          </a:r>
          <a:endParaRPr lang="en-US"/>
        </a:p>
      </dgm:t>
    </dgm:pt>
    <dgm:pt modelId="{88ECAB6A-4D70-4D0E-A5AB-DB3740071E07}" type="parTrans" cxnId="{C81B65EF-76D9-4493-931A-91BA9F05474D}">
      <dgm:prSet/>
      <dgm:spPr/>
      <dgm:t>
        <a:bodyPr/>
        <a:lstStyle/>
        <a:p>
          <a:endParaRPr lang="en-US"/>
        </a:p>
      </dgm:t>
    </dgm:pt>
    <dgm:pt modelId="{9F48AFFD-5C45-4962-B165-7C28DDCF20CD}" type="sibTrans" cxnId="{C81B65EF-76D9-4493-931A-91BA9F05474D}">
      <dgm:prSet/>
      <dgm:spPr/>
      <dgm:t>
        <a:bodyPr/>
        <a:lstStyle/>
        <a:p>
          <a:endParaRPr lang="en-US"/>
        </a:p>
      </dgm:t>
    </dgm:pt>
    <dgm:pt modelId="{CCF7DF3A-1E51-43DE-B038-F1D296753D6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Improve customer lifetime value</a:t>
          </a:r>
          <a:endParaRPr lang="en-US"/>
        </a:p>
      </dgm:t>
    </dgm:pt>
    <dgm:pt modelId="{24359400-1731-4CA9-8B95-C1FD5FB1BC1F}" type="parTrans" cxnId="{5BF2EDE1-4B58-4C24-93AF-61B51BC31D02}">
      <dgm:prSet/>
      <dgm:spPr/>
      <dgm:t>
        <a:bodyPr/>
        <a:lstStyle/>
        <a:p>
          <a:endParaRPr lang="en-US"/>
        </a:p>
      </dgm:t>
    </dgm:pt>
    <dgm:pt modelId="{827F6FA0-E9E7-4683-B020-DF6AC750A279}" type="sibTrans" cxnId="{5BF2EDE1-4B58-4C24-93AF-61B51BC31D02}">
      <dgm:prSet/>
      <dgm:spPr/>
      <dgm:t>
        <a:bodyPr/>
        <a:lstStyle/>
        <a:p>
          <a:endParaRPr lang="en-US"/>
        </a:p>
      </dgm:t>
    </dgm:pt>
    <dgm:pt modelId="{E3E5D830-458D-4059-8F28-174A12B70000}" type="pres">
      <dgm:prSet presAssocID="{E9AF5A2E-6950-4639-8B33-DBA81221B01B}" presName="root" presStyleCnt="0">
        <dgm:presLayoutVars>
          <dgm:dir/>
          <dgm:resizeHandles val="exact"/>
        </dgm:presLayoutVars>
      </dgm:prSet>
      <dgm:spPr/>
    </dgm:pt>
    <dgm:pt modelId="{CEC25675-1C1C-4EA4-B752-25DE2F72F9BD}" type="pres">
      <dgm:prSet presAssocID="{15751B10-B73B-4984-8F73-83F4B52BEAC0}" presName="compNode" presStyleCnt="0"/>
      <dgm:spPr/>
    </dgm:pt>
    <dgm:pt modelId="{23DCA2FD-09F3-4627-813A-49E3BE9AD9A4}" type="pres">
      <dgm:prSet presAssocID="{15751B10-B73B-4984-8F73-83F4B52BEAC0}" presName="iconBgRect" presStyleLbl="bgShp" presStyleIdx="0" presStyleCnt="4"/>
      <dgm:spPr/>
    </dgm:pt>
    <dgm:pt modelId="{708E4BD3-1EF3-47F8-BC2F-D191AAB5101A}" type="pres">
      <dgm:prSet presAssocID="{15751B10-B73B-4984-8F73-83F4B52BEAC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AD7839B-937C-46DD-8CB8-1545A9FAE4E9}" type="pres">
      <dgm:prSet presAssocID="{15751B10-B73B-4984-8F73-83F4B52BEAC0}" presName="spaceRect" presStyleCnt="0"/>
      <dgm:spPr/>
    </dgm:pt>
    <dgm:pt modelId="{9F7651C8-D016-4CC3-8CB9-D8A6F82DEAAE}" type="pres">
      <dgm:prSet presAssocID="{15751B10-B73B-4984-8F73-83F4B52BEAC0}" presName="textRect" presStyleLbl="revTx" presStyleIdx="0" presStyleCnt="4">
        <dgm:presLayoutVars>
          <dgm:chMax val="1"/>
          <dgm:chPref val="1"/>
        </dgm:presLayoutVars>
      </dgm:prSet>
      <dgm:spPr/>
    </dgm:pt>
    <dgm:pt modelId="{3E05AE98-5151-43EC-8EB4-6F15CDF0F577}" type="pres">
      <dgm:prSet presAssocID="{C0D35E3A-7094-475C-86CE-695BEC778613}" presName="sibTrans" presStyleCnt="0"/>
      <dgm:spPr/>
    </dgm:pt>
    <dgm:pt modelId="{393CFE49-8D2C-4FA5-9803-24D1F7406084}" type="pres">
      <dgm:prSet presAssocID="{57CAE56C-B3EA-48D2-A25B-48950ABA69C7}" presName="compNode" presStyleCnt="0"/>
      <dgm:spPr/>
    </dgm:pt>
    <dgm:pt modelId="{05F4D9D6-A1C0-4217-8730-C1E9BDCAB57E}" type="pres">
      <dgm:prSet presAssocID="{57CAE56C-B3EA-48D2-A25B-48950ABA69C7}" presName="iconBgRect" presStyleLbl="bgShp" presStyleIdx="1" presStyleCnt="4"/>
      <dgm:spPr/>
    </dgm:pt>
    <dgm:pt modelId="{8BB8D823-86D7-4924-8712-1BCD1A8227F6}" type="pres">
      <dgm:prSet presAssocID="{57CAE56C-B3EA-48D2-A25B-48950ABA69C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23BEC13-EF9E-4A43-97CE-1E1160017E34}" type="pres">
      <dgm:prSet presAssocID="{57CAE56C-B3EA-48D2-A25B-48950ABA69C7}" presName="spaceRect" presStyleCnt="0"/>
      <dgm:spPr/>
    </dgm:pt>
    <dgm:pt modelId="{1F3FEF1E-CDBB-4EA6-BA1B-640491D98A6E}" type="pres">
      <dgm:prSet presAssocID="{57CAE56C-B3EA-48D2-A25B-48950ABA69C7}" presName="textRect" presStyleLbl="revTx" presStyleIdx="1" presStyleCnt="4">
        <dgm:presLayoutVars>
          <dgm:chMax val="1"/>
          <dgm:chPref val="1"/>
        </dgm:presLayoutVars>
      </dgm:prSet>
      <dgm:spPr/>
    </dgm:pt>
    <dgm:pt modelId="{28879C1C-F22D-40E2-A0FC-27F5E8386F99}" type="pres">
      <dgm:prSet presAssocID="{911CCC18-5692-46CE-89EA-C0AC337FBF48}" presName="sibTrans" presStyleCnt="0"/>
      <dgm:spPr/>
    </dgm:pt>
    <dgm:pt modelId="{89B36D18-4AE7-448E-89E5-8B81462F14C4}" type="pres">
      <dgm:prSet presAssocID="{E3B22725-025F-49E9-9D0D-422D0C5FDB6A}" presName="compNode" presStyleCnt="0"/>
      <dgm:spPr/>
    </dgm:pt>
    <dgm:pt modelId="{302887D0-D144-4DD8-82A0-074783610996}" type="pres">
      <dgm:prSet presAssocID="{E3B22725-025F-49E9-9D0D-422D0C5FDB6A}" presName="iconBgRect" presStyleLbl="bgShp" presStyleIdx="2" presStyleCnt="4"/>
      <dgm:spPr/>
    </dgm:pt>
    <dgm:pt modelId="{11C8224F-2A47-4823-8E39-63FD5656ED56}" type="pres">
      <dgm:prSet presAssocID="{E3B22725-025F-49E9-9D0D-422D0C5FDB6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9CEC606-C52F-4E58-AA02-812B0A644535}" type="pres">
      <dgm:prSet presAssocID="{E3B22725-025F-49E9-9D0D-422D0C5FDB6A}" presName="spaceRect" presStyleCnt="0"/>
      <dgm:spPr/>
    </dgm:pt>
    <dgm:pt modelId="{0E63CE6A-ECFE-496D-8ACD-F989222776CE}" type="pres">
      <dgm:prSet presAssocID="{E3B22725-025F-49E9-9D0D-422D0C5FDB6A}" presName="textRect" presStyleLbl="revTx" presStyleIdx="2" presStyleCnt="4">
        <dgm:presLayoutVars>
          <dgm:chMax val="1"/>
          <dgm:chPref val="1"/>
        </dgm:presLayoutVars>
      </dgm:prSet>
      <dgm:spPr/>
    </dgm:pt>
    <dgm:pt modelId="{D99FFC61-2208-4BF0-9C61-EA4268513123}" type="pres">
      <dgm:prSet presAssocID="{9F48AFFD-5C45-4962-B165-7C28DDCF20CD}" presName="sibTrans" presStyleCnt="0"/>
      <dgm:spPr/>
    </dgm:pt>
    <dgm:pt modelId="{89B51B7F-0652-4AE1-A058-E3C62BA09AC6}" type="pres">
      <dgm:prSet presAssocID="{CCF7DF3A-1E51-43DE-B038-F1D296753D6B}" presName="compNode" presStyleCnt="0"/>
      <dgm:spPr/>
    </dgm:pt>
    <dgm:pt modelId="{09F1EF1F-07AD-4714-BCA1-A4C758E01E3B}" type="pres">
      <dgm:prSet presAssocID="{CCF7DF3A-1E51-43DE-B038-F1D296753D6B}" presName="iconBgRect" presStyleLbl="bgShp" presStyleIdx="3" presStyleCnt="4"/>
      <dgm:spPr/>
    </dgm:pt>
    <dgm:pt modelId="{EF348A9F-3672-44E6-81F2-C4619EA449F4}" type="pres">
      <dgm:prSet presAssocID="{CCF7DF3A-1E51-43DE-B038-F1D296753D6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BFB8EE5-CBFD-4B53-B0AD-F76F72B7226E}" type="pres">
      <dgm:prSet presAssocID="{CCF7DF3A-1E51-43DE-B038-F1D296753D6B}" presName="spaceRect" presStyleCnt="0"/>
      <dgm:spPr/>
    </dgm:pt>
    <dgm:pt modelId="{E6A669DF-EBC3-47D6-BB66-72C51656CCD5}" type="pres">
      <dgm:prSet presAssocID="{CCF7DF3A-1E51-43DE-B038-F1D296753D6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3A27F06-5F80-F340-AC54-F250EA54593D}" type="presOf" srcId="{E9AF5A2E-6950-4639-8B33-DBA81221B01B}" destId="{E3E5D830-458D-4059-8F28-174A12B70000}" srcOrd="0" destOrd="0" presId="urn:microsoft.com/office/officeart/2018/5/layout/IconCircleLabelList"/>
    <dgm:cxn modelId="{76A84A90-C1B2-49E3-9A44-CD68C5527785}" srcId="{E9AF5A2E-6950-4639-8B33-DBA81221B01B}" destId="{57CAE56C-B3EA-48D2-A25B-48950ABA69C7}" srcOrd="1" destOrd="0" parTransId="{91B629D7-087C-40DB-8F69-FA9D0FDC9526}" sibTransId="{911CCC18-5692-46CE-89EA-C0AC337FBF48}"/>
    <dgm:cxn modelId="{CF7C84C1-D47F-F54F-933B-A35C9AFCC7FF}" type="presOf" srcId="{57CAE56C-B3EA-48D2-A25B-48950ABA69C7}" destId="{1F3FEF1E-CDBB-4EA6-BA1B-640491D98A6E}" srcOrd="0" destOrd="0" presId="urn:microsoft.com/office/officeart/2018/5/layout/IconCircleLabelList"/>
    <dgm:cxn modelId="{21C9E2C6-050D-5A46-A50B-AE5F4F78128C}" type="presOf" srcId="{15751B10-B73B-4984-8F73-83F4B52BEAC0}" destId="{9F7651C8-D016-4CC3-8CB9-D8A6F82DEAAE}" srcOrd="0" destOrd="0" presId="urn:microsoft.com/office/officeart/2018/5/layout/IconCircleLabelList"/>
    <dgm:cxn modelId="{5BF2EDE1-4B58-4C24-93AF-61B51BC31D02}" srcId="{E9AF5A2E-6950-4639-8B33-DBA81221B01B}" destId="{CCF7DF3A-1E51-43DE-B038-F1D296753D6B}" srcOrd="3" destOrd="0" parTransId="{24359400-1731-4CA9-8B95-C1FD5FB1BC1F}" sibTransId="{827F6FA0-E9E7-4683-B020-DF6AC750A279}"/>
    <dgm:cxn modelId="{99FD10E8-53FC-4D35-888D-193BFF147355}" srcId="{E9AF5A2E-6950-4639-8B33-DBA81221B01B}" destId="{15751B10-B73B-4984-8F73-83F4B52BEAC0}" srcOrd="0" destOrd="0" parTransId="{D8B16C4A-3D09-42D9-BED8-ED6E472A8C01}" sibTransId="{C0D35E3A-7094-475C-86CE-695BEC778613}"/>
    <dgm:cxn modelId="{F8E5A0EA-C6A5-3444-81C5-E1232EF56D07}" type="presOf" srcId="{CCF7DF3A-1E51-43DE-B038-F1D296753D6B}" destId="{E6A669DF-EBC3-47D6-BB66-72C51656CCD5}" srcOrd="0" destOrd="0" presId="urn:microsoft.com/office/officeart/2018/5/layout/IconCircleLabelList"/>
    <dgm:cxn modelId="{C81B65EF-76D9-4493-931A-91BA9F05474D}" srcId="{E9AF5A2E-6950-4639-8B33-DBA81221B01B}" destId="{E3B22725-025F-49E9-9D0D-422D0C5FDB6A}" srcOrd="2" destOrd="0" parTransId="{88ECAB6A-4D70-4D0E-A5AB-DB3740071E07}" sibTransId="{9F48AFFD-5C45-4962-B165-7C28DDCF20CD}"/>
    <dgm:cxn modelId="{803E0AF6-F275-2C40-9AEB-2757058DFD9C}" type="presOf" srcId="{E3B22725-025F-49E9-9D0D-422D0C5FDB6A}" destId="{0E63CE6A-ECFE-496D-8ACD-F989222776CE}" srcOrd="0" destOrd="0" presId="urn:microsoft.com/office/officeart/2018/5/layout/IconCircleLabelList"/>
    <dgm:cxn modelId="{76178600-87E8-9B44-8C9B-B57A3D331822}" type="presParOf" srcId="{E3E5D830-458D-4059-8F28-174A12B70000}" destId="{CEC25675-1C1C-4EA4-B752-25DE2F72F9BD}" srcOrd="0" destOrd="0" presId="urn:microsoft.com/office/officeart/2018/5/layout/IconCircleLabelList"/>
    <dgm:cxn modelId="{A82B3D50-26A7-1745-A1F0-70A47B364E63}" type="presParOf" srcId="{CEC25675-1C1C-4EA4-B752-25DE2F72F9BD}" destId="{23DCA2FD-09F3-4627-813A-49E3BE9AD9A4}" srcOrd="0" destOrd="0" presId="urn:microsoft.com/office/officeart/2018/5/layout/IconCircleLabelList"/>
    <dgm:cxn modelId="{BDF6E908-7EE1-D14A-B3BE-B23932991936}" type="presParOf" srcId="{CEC25675-1C1C-4EA4-B752-25DE2F72F9BD}" destId="{708E4BD3-1EF3-47F8-BC2F-D191AAB5101A}" srcOrd="1" destOrd="0" presId="urn:microsoft.com/office/officeart/2018/5/layout/IconCircleLabelList"/>
    <dgm:cxn modelId="{B5FAFECF-A849-4E48-B0AB-C5FBE3AA2A26}" type="presParOf" srcId="{CEC25675-1C1C-4EA4-B752-25DE2F72F9BD}" destId="{5AD7839B-937C-46DD-8CB8-1545A9FAE4E9}" srcOrd="2" destOrd="0" presId="urn:microsoft.com/office/officeart/2018/5/layout/IconCircleLabelList"/>
    <dgm:cxn modelId="{12C9C6AB-4B5E-E34F-8CDD-00A8AAFF0C33}" type="presParOf" srcId="{CEC25675-1C1C-4EA4-B752-25DE2F72F9BD}" destId="{9F7651C8-D016-4CC3-8CB9-D8A6F82DEAAE}" srcOrd="3" destOrd="0" presId="urn:microsoft.com/office/officeart/2018/5/layout/IconCircleLabelList"/>
    <dgm:cxn modelId="{AAA09940-0B3A-7641-BA99-3B20C58213E6}" type="presParOf" srcId="{E3E5D830-458D-4059-8F28-174A12B70000}" destId="{3E05AE98-5151-43EC-8EB4-6F15CDF0F577}" srcOrd="1" destOrd="0" presId="urn:microsoft.com/office/officeart/2018/5/layout/IconCircleLabelList"/>
    <dgm:cxn modelId="{516F4860-1E0E-4942-804F-9ED429D65422}" type="presParOf" srcId="{E3E5D830-458D-4059-8F28-174A12B70000}" destId="{393CFE49-8D2C-4FA5-9803-24D1F7406084}" srcOrd="2" destOrd="0" presId="urn:microsoft.com/office/officeart/2018/5/layout/IconCircleLabelList"/>
    <dgm:cxn modelId="{36891F0F-5BE6-6944-806B-5D1AAB2B5BB1}" type="presParOf" srcId="{393CFE49-8D2C-4FA5-9803-24D1F7406084}" destId="{05F4D9D6-A1C0-4217-8730-C1E9BDCAB57E}" srcOrd="0" destOrd="0" presId="urn:microsoft.com/office/officeart/2018/5/layout/IconCircleLabelList"/>
    <dgm:cxn modelId="{7EE88D01-D5B8-F640-A7C6-539454C392C6}" type="presParOf" srcId="{393CFE49-8D2C-4FA5-9803-24D1F7406084}" destId="{8BB8D823-86D7-4924-8712-1BCD1A8227F6}" srcOrd="1" destOrd="0" presId="urn:microsoft.com/office/officeart/2018/5/layout/IconCircleLabelList"/>
    <dgm:cxn modelId="{7F68CF00-54C3-624C-AE15-CD6C44C254A7}" type="presParOf" srcId="{393CFE49-8D2C-4FA5-9803-24D1F7406084}" destId="{023BEC13-EF9E-4A43-97CE-1E1160017E34}" srcOrd="2" destOrd="0" presId="urn:microsoft.com/office/officeart/2018/5/layout/IconCircleLabelList"/>
    <dgm:cxn modelId="{4A10699D-DE16-0245-8D74-C9BE839D08BB}" type="presParOf" srcId="{393CFE49-8D2C-4FA5-9803-24D1F7406084}" destId="{1F3FEF1E-CDBB-4EA6-BA1B-640491D98A6E}" srcOrd="3" destOrd="0" presId="urn:microsoft.com/office/officeart/2018/5/layout/IconCircleLabelList"/>
    <dgm:cxn modelId="{D5C88774-A0B0-D14B-9744-1A1CAB8C2BD2}" type="presParOf" srcId="{E3E5D830-458D-4059-8F28-174A12B70000}" destId="{28879C1C-F22D-40E2-A0FC-27F5E8386F99}" srcOrd="3" destOrd="0" presId="urn:microsoft.com/office/officeart/2018/5/layout/IconCircleLabelList"/>
    <dgm:cxn modelId="{961F4988-E109-E046-8E50-3041564AB117}" type="presParOf" srcId="{E3E5D830-458D-4059-8F28-174A12B70000}" destId="{89B36D18-4AE7-448E-89E5-8B81462F14C4}" srcOrd="4" destOrd="0" presId="urn:microsoft.com/office/officeart/2018/5/layout/IconCircleLabelList"/>
    <dgm:cxn modelId="{27C52AA8-B095-2E4C-9635-AB5D2FD45795}" type="presParOf" srcId="{89B36D18-4AE7-448E-89E5-8B81462F14C4}" destId="{302887D0-D144-4DD8-82A0-074783610996}" srcOrd="0" destOrd="0" presId="urn:microsoft.com/office/officeart/2018/5/layout/IconCircleLabelList"/>
    <dgm:cxn modelId="{90E9B459-33C1-E64F-885D-BC83A90DEE78}" type="presParOf" srcId="{89B36D18-4AE7-448E-89E5-8B81462F14C4}" destId="{11C8224F-2A47-4823-8E39-63FD5656ED56}" srcOrd="1" destOrd="0" presId="urn:microsoft.com/office/officeart/2018/5/layout/IconCircleLabelList"/>
    <dgm:cxn modelId="{367CBB74-01C6-9945-B721-0D6EF62CCCC4}" type="presParOf" srcId="{89B36D18-4AE7-448E-89E5-8B81462F14C4}" destId="{79CEC606-C52F-4E58-AA02-812B0A644535}" srcOrd="2" destOrd="0" presId="urn:microsoft.com/office/officeart/2018/5/layout/IconCircleLabelList"/>
    <dgm:cxn modelId="{270D02D2-0F7E-4A41-9B26-6063D2253DA4}" type="presParOf" srcId="{89B36D18-4AE7-448E-89E5-8B81462F14C4}" destId="{0E63CE6A-ECFE-496D-8ACD-F989222776CE}" srcOrd="3" destOrd="0" presId="urn:microsoft.com/office/officeart/2018/5/layout/IconCircleLabelList"/>
    <dgm:cxn modelId="{592603B7-1080-F54B-8320-297F4E7A8033}" type="presParOf" srcId="{E3E5D830-458D-4059-8F28-174A12B70000}" destId="{D99FFC61-2208-4BF0-9C61-EA4268513123}" srcOrd="5" destOrd="0" presId="urn:microsoft.com/office/officeart/2018/5/layout/IconCircleLabelList"/>
    <dgm:cxn modelId="{1FE3E75E-D91F-8845-827D-29B439A6F648}" type="presParOf" srcId="{E3E5D830-458D-4059-8F28-174A12B70000}" destId="{89B51B7F-0652-4AE1-A058-E3C62BA09AC6}" srcOrd="6" destOrd="0" presId="urn:microsoft.com/office/officeart/2018/5/layout/IconCircleLabelList"/>
    <dgm:cxn modelId="{0E068C02-AE3D-2547-A733-E6CEABBF1094}" type="presParOf" srcId="{89B51B7F-0652-4AE1-A058-E3C62BA09AC6}" destId="{09F1EF1F-07AD-4714-BCA1-A4C758E01E3B}" srcOrd="0" destOrd="0" presId="urn:microsoft.com/office/officeart/2018/5/layout/IconCircleLabelList"/>
    <dgm:cxn modelId="{84F43F0B-45C0-F444-90BA-B0A895CB8ABC}" type="presParOf" srcId="{89B51B7F-0652-4AE1-A058-E3C62BA09AC6}" destId="{EF348A9F-3672-44E6-81F2-C4619EA449F4}" srcOrd="1" destOrd="0" presId="urn:microsoft.com/office/officeart/2018/5/layout/IconCircleLabelList"/>
    <dgm:cxn modelId="{50B9EDDD-DD46-E14B-AC18-327C89706D9D}" type="presParOf" srcId="{89B51B7F-0652-4AE1-A058-E3C62BA09AC6}" destId="{EBFB8EE5-CBFD-4B53-B0AD-F76F72B7226E}" srcOrd="2" destOrd="0" presId="urn:microsoft.com/office/officeart/2018/5/layout/IconCircleLabelList"/>
    <dgm:cxn modelId="{C106B67E-17FE-654A-B7C6-C7543BBF91A7}" type="presParOf" srcId="{89B51B7F-0652-4AE1-A058-E3C62BA09AC6}" destId="{E6A669DF-EBC3-47D6-BB66-72C51656CCD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57386D-6CE5-40D8-B0C6-648E43E34AC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A85507-1091-4262-85AA-FEED2DCA384B}">
      <dgm:prSet/>
      <dgm:spPr/>
      <dgm:t>
        <a:bodyPr/>
        <a:lstStyle/>
        <a:p>
          <a:r>
            <a:rPr lang="en-US" b="0" i="0" baseline="0"/>
            <a:t>26.5% of customers have churned</a:t>
          </a:r>
          <a:endParaRPr lang="en-US"/>
        </a:p>
      </dgm:t>
    </dgm:pt>
    <dgm:pt modelId="{4C7D304F-5EDD-41A7-8BD8-66348C540262}" type="parTrans" cxnId="{287CC622-F34F-4E87-AA7F-192A738EE238}">
      <dgm:prSet/>
      <dgm:spPr/>
      <dgm:t>
        <a:bodyPr/>
        <a:lstStyle/>
        <a:p>
          <a:endParaRPr lang="en-US"/>
        </a:p>
      </dgm:t>
    </dgm:pt>
    <dgm:pt modelId="{4539443F-08AE-4BA9-83C2-DCBBAB783698}" type="sibTrans" cxnId="{287CC622-F34F-4E87-AA7F-192A738EE238}">
      <dgm:prSet/>
      <dgm:spPr/>
      <dgm:t>
        <a:bodyPr/>
        <a:lstStyle/>
        <a:p>
          <a:endParaRPr lang="en-US"/>
        </a:p>
      </dgm:t>
    </dgm:pt>
    <dgm:pt modelId="{F69C1583-DF4A-447D-8843-D2F0CA4643A9}">
      <dgm:prSet/>
      <dgm:spPr/>
      <dgm:t>
        <a:bodyPr/>
        <a:lstStyle/>
        <a:p>
          <a:r>
            <a:rPr lang="en-US" b="0" i="0" baseline="0"/>
            <a:t>Churn is concentrated among early-tenure customers</a:t>
          </a:r>
          <a:endParaRPr lang="en-US"/>
        </a:p>
      </dgm:t>
    </dgm:pt>
    <dgm:pt modelId="{1E44B32C-7E0C-472A-B2A3-521EE97058A5}" type="parTrans" cxnId="{0FABC81C-B0C5-42A1-AFE8-95A3F612EB9F}">
      <dgm:prSet/>
      <dgm:spPr/>
      <dgm:t>
        <a:bodyPr/>
        <a:lstStyle/>
        <a:p>
          <a:endParaRPr lang="en-US"/>
        </a:p>
      </dgm:t>
    </dgm:pt>
    <dgm:pt modelId="{9F3D84E4-2859-4466-BA68-11CDBAB772EE}" type="sibTrans" cxnId="{0FABC81C-B0C5-42A1-AFE8-95A3F612EB9F}">
      <dgm:prSet/>
      <dgm:spPr/>
      <dgm:t>
        <a:bodyPr/>
        <a:lstStyle/>
        <a:p>
          <a:endParaRPr lang="en-US"/>
        </a:p>
      </dgm:t>
    </dgm:pt>
    <dgm:pt modelId="{B4FD653A-5D06-4FD6-9180-A26132BE6D5F}">
      <dgm:prSet/>
      <dgm:spPr/>
      <dgm:t>
        <a:bodyPr/>
        <a:lstStyle/>
        <a:p>
          <a:r>
            <a:rPr lang="en-US" b="0" i="0" baseline="0"/>
            <a:t>Month-to-month contracts show higher churn</a:t>
          </a:r>
          <a:endParaRPr lang="en-US"/>
        </a:p>
      </dgm:t>
    </dgm:pt>
    <dgm:pt modelId="{2038CE7B-808B-4F25-AC1C-0AC38C096314}" type="parTrans" cxnId="{61FBC989-5B45-4C31-B58B-A14890F4C4BA}">
      <dgm:prSet/>
      <dgm:spPr/>
      <dgm:t>
        <a:bodyPr/>
        <a:lstStyle/>
        <a:p>
          <a:endParaRPr lang="en-US"/>
        </a:p>
      </dgm:t>
    </dgm:pt>
    <dgm:pt modelId="{F67E30AE-35E8-464E-ADA4-08FF2C04B602}" type="sibTrans" cxnId="{61FBC989-5B45-4C31-B58B-A14890F4C4BA}">
      <dgm:prSet/>
      <dgm:spPr/>
      <dgm:t>
        <a:bodyPr/>
        <a:lstStyle/>
        <a:p>
          <a:endParaRPr lang="en-US"/>
        </a:p>
      </dgm:t>
    </dgm:pt>
    <dgm:pt modelId="{7B8F883B-442B-4E0A-AA33-C3AD3CBA1778}">
      <dgm:prSet/>
      <dgm:spPr/>
      <dgm:t>
        <a:bodyPr/>
        <a:lstStyle/>
        <a:p>
          <a:r>
            <a:rPr lang="en-US" b="0" i="0" baseline="0"/>
            <a:t>Fiber-optic customers have elevated churn risk</a:t>
          </a:r>
          <a:endParaRPr lang="en-US"/>
        </a:p>
      </dgm:t>
    </dgm:pt>
    <dgm:pt modelId="{2DC1B52C-5A84-4BE4-A1CB-08809FDF3EBE}" type="parTrans" cxnId="{E50739ED-8700-4E0D-8977-CD230788A516}">
      <dgm:prSet/>
      <dgm:spPr/>
      <dgm:t>
        <a:bodyPr/>
        <a:lstStyle/>
        <a:p>
          <a:endParaRPr lang="en-US"/>
        </a:p>
      </dgm:t>
    </dgm:pt>
    <dgm:pt modelId="{34F29912-ED99-4DC2-9A6D-7770E598DD14}" type="sibTrans" cxnId="{E50739ED-8700-4E0D-8977-CD230788A516}">
      <dgm:prSet/>
      <dgm:spPr/>
      <dgm:t>
        <a:bodyPr/>
        <a:lstStyle/>
        <a:p>
          <a:endParaRPr lang="en-US"/>
        </a:p>
      </dgm:t>
    </dgm:pt>
    <dgm:pt modelId="{809F005C-FE18-4E8F-AE27-72048A1F5652}" type="pres">
      <dgm:prSet presAssocID="{9157386D-6CE5-40D8-B0C6-648E43E34ACF}" presName="root" presStyleCnt="0">
        <dgm:presLayoutVars>
          <dgm:dir/>
          <dgm:resizeHandles val="exact"/>
        </dgm:presLayoutVars>
      </dgm:prSet>
      <dgm:spPr/>
    </dgm:pt>
    <dgm:pt modelId="{1DF4D4F2-66CE-4CDE-B9A2-2EEA8291DA9D}" type="pres">
      <dgm:prSet presAssocID="{55A85507-1091-4262-85AA-FEED2DCA384B}" presName="compNode" presStyleCnt="0"/>
      <dgm:spPr/>
    </dgm:pt>
    <dgm:pt modelId="{8EA503D2-C465-4672-BEB9-28A0CF4D7CAE}" type="pres">
      <dgm:prSet presAssocID="{55A85507-1091-4262-85AA-FEED2DCA384B}" presName="bgRect" presStyleLbl="bgShp" presStyleIdx="0" presStyleCnt="4"/>
      <dgm:spPr/>
    </dgm:pt>
    <dgm:pt modelId="{DAABEF12-1FC0-47E4-BD6F-E0CC66D4B303}" type="pres">
      <dgm:prSet presAssocID="{55A85507-1091-4262-85AA-FEED2DCA384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907D888A-0720-4055-9386-9BF54B381097}" type="pres">
      <dgm:prSet presAssocID="{55A85507-1091-4262-85AA-FEED2DCA384B}" presName="spaceRect" presStyleCnt="0"/>
      <dgm:spPr/>
    </dgm:pt>
    <dgm:pt modelId="{8E14CC88-A38C-4350-9D68-34239E47093B}" type="pres">
      <dgm:prSet presAssocID="{55A85507-1091-4262-85AA-FEED2DCA384B}" presName="parTx" presStyleLbl="revTx" presStyleIdx="0" presStyleCnt="4">
        <dgm:presLayoutVars>
          <dgm:chMax val="0"/>
          <dgm:chPref val="0"/>
        </dgm:presLayoutVars>
      </dgm:prSet>
      <dgm:spPr/>
    </dgm:pt>
    <dgm:pt modelId="{AD1A0982-9E78-45FF-9EBA-550F9D741935}" type="pres">
      <dgm:prSet presAssocID="{4539443F-08AE-4BA9-83C2-DCBBAB783698}" presName="sibTrans" presStyleCnt="0"/>
      <dgm:spPr/>
    </dgm:pt>
    <dgm:pt modelId="{0BE475FB-D02C-44E4-A76C-CCAA55CFDAA9}" type="pres">
      <dgm:prSet presAssocID="{F69C1583-DF4A-447D-8843-D2F0CA4643A9}" presName="compNode" presStyleCnt="0"/>
      <dgm:spPr/>
    </dgm:pt>
    <dgm:pt modelId="{1F45CB05-43E2-4920-AC6F-3D5E769DAABB}" type="pres">
      <dgm:prSet presAssocID="{F69C1583-DF4A-447D-8843-D2F0CA4643A9}" presName="bgRect" presStyleLbl="bgShp" presStyleIdx="1" presStyleCnt="4"/>
      <dgm:spPr/>
    </dgm:pt>
    <dgm:pt modelId="{F9BAECF0-0FAD-4A1B-8825-DEEB91303895}" type="pres">
      <dgm:prSet presAssocID="{F69C1583-DF4A-447D-8843-D2F0CA4643A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EE0E3D2-7634-4AD7-BC41-9A34745B395A}" type="pres">
      <dgm:prSet presAssocID="{F69C1583-DF4A-447D-8843-D2F0CA4643A9}" presName="spaceRect" presStyleCnt="0"/>
      <dgm:spPr/>
    </dgm:pt>
    <dgm:pt modelId="{00B27621-42D7-4959-A117-3883E29D2CC6}" type="pres">
      <dgm:prSet presAssocID="{F69C1583-DF4A-447D-8843-D2F0CA4643A9}" presName="parTx" presStyleLbl="revTx" presStyleIdx="1" presStyleCnt="4">
        <dgm:presLayoutVars>
          <dgm:chMax val="0"/>
          <dgm:chPref val="0"/>
        </dgm:presLayoutVars>
      </dgm:prSet>
      <dgm:spPr/>
    </dgm:pt>
    <dgm:pt modelId="{124885EC-27A2-458D-9E27-E221CF6D6EBE}" type="pres">
      <dgm:prSet presAssocID="{9F3D84E4-2859-4466-BA68-11CDBAB772EE}" presName="sibTrans" presStyleCnt="0"/>
      <dgm:spPr/>
    </dgm:pt>
    <dgm:pt modelId="{A459DD9C-E55F-40C9-A1E7-4670094EBB47}" type="pres">
      <dgm:prSet presAssocID="{B4FD653A-5D06-4FD6-9180-A26132BE6D5F}" presName="compNode" presStyleCnt="0"/>
      <dgm:spPr/>
    </dgm:pt>
    <dgm:pt modelId="{D730BF23-9C6E-4233-8313-7C47FC680D1D}" type="pres">
      <dgm:prSet presAssocID="{B4FD653A-5D06-4FD6-9180-A26132BE6D5F}" presName="bgRect" presStyleLbl="bgShp" presStyleIdx="2" presStyleCnt="4"/>
      <dgm:spPr/>
    </dgm:pt>
    <dgm:pt modelId="{699FC29A-4348-4CEB-9C28-98553A38A175}" type="pres">
      <dgm:prSet presAssocID="{B4FD653A-5D06-4FD6-9180-A26132BE6D5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2BA3B7B-ECD2-4904-84C3-218D64B8FC0E}" type="pres">
      <dgm:prSet presAssocID="{B4FD653A-5D06-4FD6-9180-A26132BE6D5F}" presName="spaceRect" presStyleCnt="0"/>
      <dgm:spPr/>
    </dgm:pt>
    <dgm:pt modelId="{15546C5E-734B-4D01-8ACB-82700A95E764}" type="pres">
      <dgm:prSet presAssocID="{B4FD653A-5D06-4FD6-9180-A26132BE6D5F}" presName="parTx" presStyleLbl="revTx" presStyleIdx="2" presStyleCnt="4">
        <dgm:presLayoutVars>
          <dgm:chMax val="0"/>
          <dgm:chPref val="0"/>
        </dgm:presLayoutVars>
      </dgm:prSet>
      <dgm:spPr/>
    </dgm:pt>
    <dgm:pt modelId="{121B0856-20E4-44DD-A45F-56E67275AFB8}" type="pres">
      <dgm:prSet presAssocID="{F67E30AE-35E8-464E-ADA4-08FF2C04B602}" presName="sibTrans" presStyleCnt="0"/>
      <dgm:spPr/>
    </dgm:pt>
    <dgm:pt modelId="{700681CE-4CF9-4A23-8CD3-90E0476296E2}" type="pres">
      <dgm:prSet presAssocID="{7B8F883B-442B-4E0A-AA33-C3AD3CBA1778}" presName="compNode" presStyleCnt="0"/>
      <dgm:spPr/>
    </dgm:pt>
    <dgm:pt modelId="{1BB22893-D226-4DC6-B636-471D128F16F1}" type="pres">
      <dgm:prSet presAssocID="{7B8F883B-442B-4E0A-AA33-C3AD3CBA1778}" presName="bgRect" presStyleLbl="bgShp" presStyleIdx="3" presStyleCnt="4"/>
      <dgm:spPr/>
    </dgm:pt>
    <dgm:pt modelId="{1EA076DA-5258-44A4-B0EC-604DEAFBAA3D}" type="pres">
      <dgm:prSet presAssocID="{7B8F883B-442B-4E0A-AA33-C3AD3CBA177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EC5CB008-2BC9-4306-AB81-DFC6CBD64BBB}" type="pres">
      <dgm:prSet presAssocID="{7B8F883B-442B-4E0A-AA33-C3AD3CBA1778}" presName="spaceRect" presStyleCnt="0"/>
      <dgm:spPr/>
    </dgm:pt>
    <dgm:pt modelId="{17CF2DBA-CD38-4168-9731-8A20C1B5A5DF}" type="pres">
      <dgm:prSet presAssocID="{7B8F883B-442B-4E0A-AA33-C3AD3CBA177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941040D-744A-4A92-B86F-06277A291823}" type="presOf" srcId="{9157386D-6CE5-40D8-B0C6-648E43E34ACF}" destId="{809F005C-FE18-4E8F-AE27-72048A1F5652}" srcOrd="0" destOrd="0" presId="urn:microsoft.com/office/officeart/2018/2/layout/IconVerticalSolidList"/>
    <dgm:cxn modelId="{0FABC81C-B0C5-42A1-AFE8-95A3F612EB9F}" srcId="{9157386D-6CE5-40D8-B0C6-648E43E34ACF}" destId="{F69C1583-DF4A-447D-8843-D2F0CA4643A9}" srcOrd="1" destOrd="0" parTransId="{1E44B32C-7E0C-472A-B2A3-521EE97058A5}" sibTransId="{9F3D84E4-2859-4466-BA68-11CDBAB772EE}"/>
    <dgm:cxn modelId="{4C387821-242F-4B3B-94BF-451CC528BC58}" type="presOf" srcId="{55A85507-1091-4262-85AA-FEED2DCA384B}" destId="{8E14CC88-A38C-4350-9D68-34239E47093B}" srcOrd="0" destOrd="0" presId="urn:microsoft.com/office/officeart/2018/2/layout/IconVerticalSolidList"/>
    <dgm:cxn modelId="{287CC622-F34F-4E87-AA7F-192A738EE238}" srcId="{9157386D-6CE5-40D8-B0C6-648E43E34ACF}" destId="{55A85507-1091-4262-85AA-FEED2DCA384B}" srcOrd="0" destOrd="0" parTransId="{4C7D304F-5EDD-41A7-8BD8-66348C540262}" sibTransId="{4539443F-08AE-4BA9-83C2-DCBBAB783698}"/>
    <dgm:cxn modelId="{10511623-0D69-48C5-B023-95FED5D9E749}" type="presOf" srcId="{7B8F883B-442B-4E0A-AA33-C3AD3CBA1778}" destId="{17CF2DBA-CD38-4168-9731-8A20C1B5A5DF}" srcOrd="0" destOrd="0" presId="urn:microsoft.com/office/officeart/2018/2/layout/IconVerticalSolidList"/>
    <dgm:cxn modelId="{B5365825-A9C7-4EBE-8CCA-AEB74888E0BF}" type="presOf" srcId="{B4FD653A-5D06-4FD6-9180-A26132BE6D5F}" destId="{15546C5E-734B-4D01-8ACB-82700A95E764}" srcOrd="0" destOrd="0" presId="urn:microsoft.com/office/officeart/2018/2/layout/IconVerticalSolidList"/>
    <dgm:cxn modelId="{61FBC989-5B45-4C31-B58B-A14890F4C4BA}" srcId="{9157386D-6CE5-40D8-B0C6-648E43E34ACF}" destId="{B4FD653A-5D06-4FD6-9180-A26132BE6D5F}" srcOrd="2" destOrd="0" parTransId="{2038CE7B-808B-4F25-AC1C-0AC38C096314}" sibTransId="{F67E30AE-35E8-464E-ADA4-08FF2C04B602}"/>
    <dgm:cxn modelId="{8E6804B5-B68C-49AA-A6FE-0AB9C6850A95}" type="presOf" srcId="{F69C1583-DF4A-447D-8843-D2F0CA4643A9}" destId="{00B27621-42D7-4959-A117-3883E29D2CC6}" srcOrd="0" destOrd="0" presId="urn:microsoft.com/office/officeart/2018/2/layout/IconVerticalSolidList"/>
    <dgm:cxn modelId="{E50739ED-8700-4E0D-8977-CD230788A516}" srcId="{9157386D-6CE5-40D8-B0C6-648E43E34ACF}" destId="{7B8F883B-442B-4E0A-AA33-C3AD3CBA1778}" srcOrd="3" destOrd="0" parTransId="{2DC1B52C-5A84-4BE4-A1CB-08809FDF3EBE}" sibTransId="{34F29912-ED99-4DC2-9A6D-7770E598DD14}"/>
    <dgm:cxn modelId="{985597CE-9068-4194-BF00-7D400F646E5C}" type="presParOf" srcId="{809F005C-FE18-4E8F-AE27-72048A1F5652}" destId="{1DF4D4F2-66CE-4CDE-B9A2-2EEA8291DA9D}" srcOrd="0" destOrd="0" presId="urn:microsoft.com/office/officeart/2018/2/layout/IconVerticalSolidList"/>
    <dgm:cxn modelId="{45AC4BC7-F156-4763-86ED-2DE3F74B0F78}" type="presParOf" srcId="{1DF4D4F2-66CE-4CDE-B9A2-2EEA8291DA9D}" destId="{8EA503D2-C465-4672-BEB9-28A0CF4D7CAE}" srcOrd="0" destOrd="0" presId="urn:microsoft.com/office/officeart/2018/2/layout/IconVerticalSolidList"/>
    <dgm:cxn modelId="{50E253F8-4F5F-46BF-9A6D-826D5BAC4C91}" type="presParOf" srcId="{1DF4D4F2-66CE-4CDE-B9A2-2EEA8291DA9D}" destId="{DAABEF12-1FC0-47E4-BD6F-E0CC66D4B303}" srcOrd="1" destOrd="0" presId="urn:microsoft.com/office/officeart/2018/2/layout/IconVerticalSolidList"/>
    <dgm:cxn modelId="{2200E325-E99C-414D-BCF6-D35F9BACC8B6}" type="presParOf" srcId="{1DF4D4F2-66CE-4CDE-B9A2-2EEA8291DA9D}" destId="{907D888A-0720-4055-9386-9BF54B381097}" srcOrd="2" destOrd="0" presId="urn:microsoft.com/office/officeart/2018/2/layout/IconVerticalSolidList"/>
    <dgm:cxn modelId="{EB2B4A4B-62B1-4369-B73D-97FB9A9F0EB9}" type="presParOf" srcId="{1DF4D4F2-66CE-4CDE-B9A2-2EEA8291DA9D}" destId="{8E14CC88-A38C-4350-9D68-34239E47093B}" srcOrd="3" destOrd="0" presId="urn:microsoft.com/office/officeart/2018/2/layout/IconVerticalSolidList"/>
    <dgm:cxn modelId="{F3F191EF-32ED-4482-A93D-502C0F1C4E5A}" type="presParOf" srcId="{809F005C-FE18-4E8F-AE27-72048A1F5652}" destId="{AD1A0982-9E78-45FF-9EBA-550F9D741935}" srcOrd="1" destOrd="0" presId="urn:microsoft.com/office/officeart/2018/2/layout/IconVerticalSolidList"/>
    <dgm:cxn modelId="{DB8B041A-5B84-416F-8C04-41E48B006596}" type="presParOf" srcId="{809F005C-FE18-4E8F-AE27-72048A1F5652}" destId="{0BE475FB-D02C-44E4-A76C-CCAA55CFDAA9}" srcOrd="2" destOrd="0" presId="urn:microsoft.com/office/officeart/2018/2/layout/IconVerticalSolidList"/>
    <dgm:cxn modelId="{3A93732D-ED1D-4EB3-9F2A-D048435E3B55}" type="presParOf" srcId="{0BE475FB-D02C-44E4-A76C-CCAA55CFDAA9}" destId="{1F45CB05-43E2-4920-AC6F-3D5E769DAABB}" srcOrd="0" destOrd="0" presId="urn:microsoft.com/office/officeart/2018/2/layout/IconVerticalSolidList"/>
    <dgm:cxn modelId="{A522B4E9-D9FF-4B8C-8D63-07087F04F376}" type="presParOf" srcId="{0BE475FB-D02C-44E4-A76C-CCAA55CFDAA9}" destId="{F9BAECF0-0FAD-4A1B-8825-DEEB91303895}" srcOrd="1" destOrd="0" presId="urn:microsoft.com/office/officeart/2018/2/layout/IconVerticalSolidList"/>
    <dgm:cxn modelId="{4F5E6517-D372-4C33-BB43-238F0A700BF1}" type="presParOf" srcId="{0BE475FB-D02C-44E4-A76C-CCAA55CFDAA9}" destId="{CEE0E3D2-7634-4AD7-BC41-9A34745B395A}" srcOrd="2" destOrd="0" presId="urn:microsoft.com/office/officeart/2018/2/layout/IconVerticalSolidList"/>
    <dgm:cxn modelId="{5FAA71D4-3B8C-43E2-99DA-13962B91829F}" type="presParOf" srcId="{0BE475FB-D02C-44E4-A76C-CCAA55CFDAA9}" destId="{00B27621-42D7-4959-A117-3883E29D2CC6}" srcOrd="3" destOrd="0" presId="urn:microsoft.com/office/officeart/2018/2/layout/IconVerticalSolidList"/>
    <dgm:cxn modelId="{A883D2B3-B802-444B-9020-F8998E3E1D96}" type="presParOf" srcId="{809F005C-FE18-4E8F-AE27-72048A1F5652}" destId="{124885EC-27A2-458D-9E27-E221CF6D6EBE}" srcOrd="3" destOrd="0" presId="urn:microsoft.com/office/officeart/2018/2/layout/IconVerticalSolidList"/>
    <dgm:cxn modelId="{9C96E2D3-96B4-4B90-8AB3-6B06CE41BF43}" type="presParOf" srcId="{809F005C-FE18-4E8F-AE27-72048A1F5652}" destId="{A459DD9C-E55F-40C9-A1E7-4670094EBB47}" srcOrd="4" destOrd="0" presId="urn:microsoft.com/office/officeart/2018/2/layout/IconVerticalSolidList"/>
    <dgm:cxn modelId="{052837DB-67FB-4691-A233-CAE8504BC287}" type="presParOf" srcId="{A459DD9C-E55F-40C9-A1E7-4670094EBB47}" destId="{D730BF23-9C6E-4233-8313-7C47FC680D1D}" srcOrd="0" destOrd="0" presId="urn:microsoft.com/office/officeart/2018/2/layout/IconVerticalSolidList"/>
    <dgm:cxn modelId="{43C32C27-64EF-4A9B-909E-307522B7456C}" type="presParOf" srcId="{A459DD9C-E55F-40C9-A1E7-4670094EBB47}" destId="{699FC29A-4348-4CEB-9C28-98553A38A175}" srcOrd="1" destOrd="0" presId="urn:microsoft.com/office/officeart/2018/2/layout/IconVerticalSolidList"/>
    <dgm:cxn modelId="{58C9441A-EDAF-4A68-A7F1-19DF9996EAF2}" type="presParOf" srcId="{A459DD9C-E55F-40C9-A1E7-4670094EBB47}" destId="{F2BA3B7B-ECD2-4904-84C3-218D64B8FC0E}" srcOrd="2" destOrd="0" presId="urn:microsoft.com/office/officeart/2018/2/layout/IconVerticalSolidList"/>
    <dgm:cxn modelId="{72436C18-A3C7-4EDE-A387-6030DD8DE0DC}" type="presParOf" srcId="{A459DD9C-E55F-40C9-A1E7-4670094EBB47}" destId="{15546C5E-734B-4D01-8ACB-82700A95E764}" srcOrd="3" destOrd="0" presId="urn:microsoft.com/office/officeart/2018/2/layout/IconVerticalSolidList"/>
    <dgm:cxn modelId="{DEEE8A9C-4CD7-4843-9E9F-143B997C10DB}" type="presParOf" srcId="{809F005C-FE18-4E8F-AE27-72048A1F5652}" destId="{121B0856-20E4-44DD-A45F-56E67275AFB8}" srcOrd="5" destOrd="0" presId="urn:microsoft.com/office/officeart/2018/2/layout/IconVerticalSolidList"/>
    <dgm:cxn modelId="{054A85C0-F19E-49CD-B847-852CDF414206}" type="presParOf" srcId="{809F005C-FE18-4E8F-AE27-72048A1F5652}" destId="{700681CE-4CF9-4A23-8CD3-90E0476296E2}" srcOrd="6" destOrd="0" presId="urn:microsoft.com/office/officeart/2018/2/layout/IconVerticalSolidList"/>
    <dgm:cxn modelId="{7AB9BD34-7BD9-4143-95AE-C64724F54F63}" type="presParOf" srcId="{700681CE-4CF9-4A23-8CD3-90E0476296E2}" destId="{1BB22893-D226-4DC6-B636-471D128F16F1}" srcOrd="0" destOrd="0" presId="urn:microsoft.com/office/officeart/2018/2/layout/IconVerticalSolidList"/>
    <dgm:cxn modelId="{5A1159DD-F7A7-4665-9418-D34F19C0C8F2}" type="presParOf" srcId="{700681CE-4CF9-4A23-8CD3-90E0476296E2}" destId="{1EA076DA-5258-44A4-B0EC-604DEAFBAA3D}" srcOrd="1" destOrd="0" presId="urn:microsoft.com/office/officeart/2018/2/layout/IconVerticalSolidList"/>
    <dgm:cxn modelId="{E558FAB1-1B84-4A22-8F72-B0A63D6FB9BE}" type="presParOf" srcId="{700681CE-4CF9-4A23-8CD3-90E0476296E2}" destId="{EC5CB008-2BC9-4306-AB81-DFC6CBD64BBB}" srcOrd="2" destOrd="0" presId="urn:microsoft.com/office/officeart/2018/2/layout/IconVerticalSolidList"/>
    <dgm:cxn modelId="{8A6398C0-64A6-4FA2-8A68-F9CC1EF444D0}" type="presParOf" srcId="{700681CE-4CF9-4A23-8CD3-90E0476296E2}" destId="{17CF2DBA-CD38-4168-9731-8A20C1B5A5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6EDC59-132F-4F9C-91FC-D07AC410C12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FD13F9F-3F8C-42FE-ACD1-6F3AFD48934F}">
      <dgm:prSet/>
      <dgm:spPr/>
      <dgm:t>
        <a:bodyPr/>
        <a:lstStyle/>
        <a:p>
          <a:r>
            <a:rPr lang="en-US" b="0" i="0" baseline="0"/>
            <a:t>Binary logistic regression model</a:t>
          </a:r>
          <a:endParaRPr lang="en-US"/>
        </a:p>
      </dgm:t>
    </dgm:pt>
    <dgm:pt modelId="{E565FA6D-2B53-4926-859B-80FAD12E1F4B}" type="parTrans" cxnId="{19F951BD-E929-4C3E-8316-9D01149A93DC}">
      <dgm:prSet/>
      <dgm:spPr/>
      <dgm:t>
        <a:bodyPr/>
        <a:lstStyle/>
        <a:p>
          <a:endParaRPr lang="en-US"/>
        </a:p>
      </dgm:t>
    </dgm:pt>
    <dgm:pt modelId="{D9632FE5-8D31-4109-82A0-E26EC9B42AB0}" type="sibTrans" cxnId="{19F951BD-E929-4C3E-8316-9D01149A93DC}">
      <dgm:prSet/>
      <dgm:spPr/>
      <dgm:t>
        <a:bodyPr/>
        <a:lstStyle/>
        <a:p>
          <a:endParaRPr lang="en-US"/>
        </a:p>
      </dgm:t>
    </dgm:pt>
    <dgm:pt modelId="{E1FF1307-82C2-4DE1-9415-87697F063DE9}">
      <dgm:prSet/>
      <dgm:spPr/>
      <dgm:t>
        <a:bodyPr/>
        <a:lstStyle/>
        <a:p>
          <a:r>
            <a:rPr lang="en-US" b="0" i="0" baseline="0"/>
            <a:t>Predicts probability of customer churn</a:t>
          </a:r>
          <a:endParaRPr lang="en-US"/>
        </a:p>
      </dgm:t>
    </dgm:pt>
    <dgm:pt modelId="{92F73BAB-1169-4812-8A9D-9141441D1CC1}" type="parTrans" cxnId="{10937F83-95A2-4A44-944B-771834210600}">
      <dgm:prSet/>
      <dgm:spPr/>
      <dgm:t>
        <a:bodyPr/>
        <a:lstStyle/>
        <a:p>
          <a:endParaRPr lang="en-US"/>
        </a:p>
      </dgm:t>
    </dgm:pt>
    <dgm:pt modelId="{25A85110-27E9-4E35-A3BB-EB245F19E37E}" type="sibTrans" cxnId="{10937F83-95A2-4A44-944B-771834210600}">
      <dgm:prSet/>
      <dgm:spPr/>
      <dgm:t>
        <a:bodyPr/>
        <a:lstStyle/>
        <a:p>
          <a:endParaRPr lang="en-US"/>
        </a:p>
      </dgm:t>
    </dgm:pt>
    <dgm:pt modelId="{FDEDED40-3D3F-4896-B27B-58648DDAEA39}">
      <dgm:prSet/>
      <dgm:spPr/>
      <dgm:t>
        <a:bodyPr/>
        <a:lstStyle/>
        <a:p>
          <a:r>
            <a:rPr lang="en-US" b="0" i="0" baseline="0"/>
            <a:t>Chosen for interpretability and transparency</a:t>
          </a:r>
          <a:endParaRPr lang="en-US"/>
        </a:p>
      </dgm:t>
    </dgm:pt>
    <dgm:pt modelId="{689EB5C1-9AB9-44B9-A94A-544CF8824BD2}" type="parTrans" cxnId="{69A7FA91-2B8A-4E5B-A2CB-7E435F780429}">
      <dgm:prSet/>
      <dgm:spPr/>
      <dgm:t>
        <a:bodyPr/>
        <a:lstStyle/>
        <a:p>
          <a:endParaRPr lang="en-US"/>
        </a:p>
      </dgm:t>
    </dgm:pt>
    <dgm:pt modelId="{21B54627-1823-4AB2-9830-4A7DCD5176BC}" type="sibTrans" cxnId="{69A7FA91-2B8A-4E5B-A2CB-7E435F780429}">
      <dgm:prSet/>
      <dgm:spPr/>
      <dgm:t>
        <a:bodyPr/>
        <a:lstStyle/>
        <a:p>
          <a:endParaRPr lang="en-US"/>
        </a:p>
      </dgm:t>
    </dgm:pt>
    <dgm:pt modelId="{ABB714EC-2320-4297-9F49-A57EB623027D}">
      <dgm:prSet/>
      <dgm:spPr/>
      <dgm:t>
        <a:bodyPr/>
        <a:lstStyle/>
        <a:p>
          <a:r>
            <a:rPr lang="en-US" b="0" i="0" baseline="0"/>
            <a:t>Key predictors: tenure, contract type, internet service, charges</a:t>
          </a:r>
          <a:endParaRPr lang="en-US"/>
        </a:p>
      </dgm:t>
    </dgm:pt>
    <dgm:pt modelId="{AF826C17-8094-4568-9793-6E4126707AE5}" type="parTrans" cxnId="{34DFE9AA-FA80-44F2-95A5-B7F50CFB5593}">
      <dgm:prSet/>
      <dgm:spPr/>
      <dgm:t>
        <a:bodyPr/>
        <a:lstStyle/>
        <a:p>
          <a:endParaRPr lang="en-US"/>
        </a:p>
      </dgm:t>
    </dgm:pt>
    <dgm:pt modelId="{AC98C711-3B79-417E-A2D9-E92C36399DEC}" type="sibTrans" cxnId="{34DFE9AA-FA80-44F2-95A5-B7F50CFB5593}">
      <dgm:prSet/>
      <dgm:spPr/>
      <dgm:t>
        <a:bodyPr/>
        <a:lstStyle/>
        <a:p>
          <a:endParaRPr lang="en-US"/>
        </a:p>
      </dgm:t>
    </dgm:pt>
    <dgm:pt modelId="{77A8D287-E3A6-4752-AD0E-70FBB3A6A835}" type="pres">
      <dgm:prSet presAssocID="{986EDC59-132F-4F9C-91FC-D07AC410C123}" presName="root" presStyleCnt="0">
        <dgm:presLayoutVars>
          <dgm:dir/>
          <dgm:resizeHandles val="exact"/>
        </dgm:presLayoutVars>
      </dgm:prSet>
      <dgm:spPr/>
    </dgm:pt>
    <dgm:pt modelId="{E34D96DD-F69E-4281-AC32-825C7A1D4962}" type="pres">
      <dgm:prSet presAssocID="{4FD13F9F-3F8C-42FE-ACD1-6F3AFD48934F}" presName="compNode" presStyleCnt="0"/>
      <dgm:spPr/>
    </dgm:pt>
    <dgm:pt modelId="{40C34268-B5AB-480D-A955-71AD95AE4580}" type="pres">
      <dgm:prSet presAssocID="{4FD13F9F-3F8C-42FE-ACD1-6F3AFD48934F}" presName="bgRect" presStyleLbl="bgShp" presStyleIdx="0" presStyleCnt="4"/>
      <dgm:spPr/>
    </dgm:pt>
    <dgm:pt modelId="{5CAC595C-07C1-488E-9E5C-1FC3F83A0FC2}" type="pres">
      <dgm:prSet presAssocID="{4FD13F9F-3F8C-42FE-ACD1-6F3AFD48934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A0B9D44E-982E-4329-A360-B467531CCC7C}" type="pres">
      <dgm:prSet presAssocID="{4FD13F9F-3F8C-42FE-ACD1-6F3AFD48934F}" presName="spaceRect" presStyleCnt="0"/>
      <dgm:spPr/>
    </dgm:pt>
    <dgm:pt modelId="{FAB15A6C-7268-4427-ABA2-F18FF845F52B}" type="pres">
      <dgm:prSet presAssocID="{4FD13F9F-3F8C-42FE-ACD1-6F3AFD48934F}" presName="parTx" presStyleLbl="revTx" presStyleIdx="0" presStyleCnt="4">
        <dgm:presLayoutVars>
          <dgm:chMax val="0"/>
          <dgm:chPref val="0"/>
        </dgm:presLayoutVars>
      </dgm:prSet>
      <dgm:spPr/>
    </dgm:pt>
    <dgm:pt modelId="{9400E7DF-33BB-4F71-8148-3FD38151420E}" type="pres">
      <dgm:prSet presAssocID="{D9632FE5-8D31-4109-82A0-E26EC9B42AB0}" presName="sibTrans" presStyleCnt="0"/>
      <dgm:spPr/>
    </dgm:pt>
    <dgm:pt modelId="{F9D9096F-E73E-4254-AF52-B0907045A2FF}" type="pres">
      <dgm:prSet presAssocID="{E1FF1307-82C2-4DE1-9415-87697F063DE9}" presName="compNode" presStyleCnt="0"/>
      <dgm:spPr/>
    </dgm:pt>
    <dgm:pt modelId="{07266CE1-AE86-4637-8FBD-BD8C10753AD2}" type="pres">
      <dgm:prSet presAssocID="{E1FF1307-82C2-4DE1-9415-87697F063DE9}" presName="bgRect" presStyleLbl="bgShp" presStyleIdx="1" presStyleCnt="4"/>
      <dgm:spPr/>
    </dgm:pt>
    <dgm:pt modelId="{304FECDF-33CA-4BFF-A4EA-92BA918582BF}" type="pres">
      <dgm:prSet presAssocID="{E1FF1307-82C2-4DE1-9415-87697F063DE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4EC6404-54C8-46EE-B1DF-0F6B50CBC559}" type="pres">
      <dgm:prSet presAssocID="{E1FF1307-82C2-4DE1-9415-87697F063DE9}" presName="spaceRect" presStyleCnt="0"/>
      <dgm:spPr/>
    </dgm:pt>
    <dgm:pt modelId="{70AC0C94-D059-4B9D-A729-089166D0C13F}" type="pres">
      <dgm:prSet presAssocID="{E1FF1307-82C2-4DE1-9415-87697F063DE9}" presName="parTx" presStyleLbl="revTx" presStyleIdx="1" presStyleCnt="4">
        <dgm:presLayoutVars>
          <dgm:chMax val="0"/>
          <dgm:chPref val="0"/>
        </dgm:presLayoutVars>
      </dgm:prSet>
      <dgm:spPr/>
    </dgm:pt>
    <dgm:pt modelId="{B195907D-ED17-4E7D-8B93-7C5723BDDF4C}" type="pres">
      <dgm:prSet presAssocID="{25A85110-27E9-4E35-A3BB-EB245F19E37E}" presName="sibTrans" presStyleCnt="0"/>
      <dgm:spPr/>
    </dgm:pt>
    <dgm:pt modelId="{F3E44075-4BA1-4D37-B670-A7CB62E65F34}" type="pres">
      <dgm:prSet presAssocID="{FDEDED40-3D3F-4896-B27B-58648DDAEA39}" presName="compNode" presStyleCnt="0"/>
      <dgm:spPr/>
    </dgm:pt>
    <dgm:pt modelId="{10358F3C-D1D8-42B1-BB77-E1F326673DA2}" type="pres">
      <dgm:prSet presAssocID="{FDEDED40-3D3F-4896-B27B-58648DDAEA39}" presName="bgRect" presStyleLbl="bgShp" presStyleIdx="2" presStyleCnt="4"/>
      <dgm:spPr/>
    </dgm:pt>
    <dgm:pt modelId="{3D6F98F9-7FF2-4CA3-8462-5AAE26D3135C}" type="pres">
      <dgm:prSet presAssocID="{FDEDED40-3D3F-4896-B27B-58648DDAEA3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4AB8B55-B219-42DA-B7DD-0B151E844DBB}" type="pres">
      <dgm:prSet presAssocID="{FDEDED40-3D3F-4896-B27B-58648DDAEA39}" presName="spaceRect" presStyleCnt="0"/>
      <dgm:spPr/>
    </dgm:pt>
    <dgm:pt modelId="{4F8C1ED5-118E-4EA6-AFED-26652ABB19B7}" type="pres">
      <dgm:prSet presAssocID="{FDEDED40-3D3F-4896-B27B-58648DDAEA39}" presName="parTx" presStyleLbl="revTx" presStyleIdx="2" presStyleCnt="4">
        <dgm:presLayoutVars>
          <dgm:chMax val="0"/>
          <dgm:chPref val="0"/>
        </dgm:presLayoutVars>
      </dgm:prSet>
      <dgm:spPr/>
    </dgm:pt>
    <dgm:pt modelId="{DE17B498-00CC-4B72-A8F7-160E0EFE0B00}" type="pres">
      <dgm:prSet presAssocID="{21B54627-1823-4AB2-9830-4A7DCD5176BC}" presName="sibTrans" presStyleCnt="0"/>
      <dgm:spPr/>
    </dgm:pt>
    <dgm:pt modelId="{CE85E069-3CF8-4861-A709-43BC453A174A}" type="pres">
      <dgm:prSet presAssocID="{ABB714EC-2320-4297-9F49-A57EB623027D}" presName="compNode" presStyleCnt="0"/>
      <dgm:spPr/>
    </dgm:pt>
    <dgm:pt modelId="{ACAC8B8E-F9F7-4059-AE76-4F44FDFD880B}" type="pres">
      <dgm:prSet presAssocID="{ABB714EC-2320-4297-9F49-A57EB623027D}" presName="bgRect" presStyleLbl="bgShp" presStyleIdx="3" presStyleCnt="4"/>
      <dgm:spPr/>
    </dgm:pt>
    <dgm:pt modelId="{47D5E4DA-8DDE-44DC-93FC-F649D507664C}" type="pres">
      <dgm:prSet presAssocID="{ABB714EC-2320-4297-9F49-A57EB623027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928E23ED-1459-4263-8E33-15BC6A9FD303}" type="pres">
      <dgm:prSet presAssocID="{ABB714EC-2320-4297-9F49-A57EB623027D}" presName="spaceRect" presStyleCnt="0"/>
      <dgm:spPr/>
    </dgm:pt>
    <dgm:pt modelId="{3D63630F-F1B2-49E6-871B-A59ED4EEA135}" type="pres">
      <dgm:prSet presAssocID="{ABB714EC-2320-4297-9F49-A57EB623027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7EE0080-47D8-4D71-9152-8B4EDA1EB69B}" type="presOf" srcId="{4FD13F9F-3F8C-42FE-ACD1-6F3AFD48934F}" destId="{FAB15A6C-7268-4427-ABA2-F18FF845F52B}" srcOrd="0" destOrd="0" presId="urn:microsoft.com/office/officeart/2018/2/layout/IconVerticalSolidList"/>
    <dgm:cxn modelId="{10937F83-95A2-4A44-944B-771834210600}" srcId="{986EDC59-132F-4F9C-91FC-D07AC410C123}" destId="{E1FF1307-82C2-4DE1-9415-87697F063DE9}" srcOrd="1" destOrd="0" parTransId="{92F73BAB-1169-4812-8A9D-9141441D1CC1}" sibTransId="{25A85110-27E9-4E35-A3BB-EB245F19E37E}"/>
    <dgm:cxn modelId="{EFFB2890-84C1-45D0-9339-22D6708E2CDC}" type="presOf" srcId="{ABB714EC-2320-4297-9F49-A57EB623027D}" destId="{3D63630F-F1B2-49E6-871B-A59ED4EEA135}" srcOrd="0" destOrd="0" presId="urn:microsoft.com/office/officeart/2018/2/layout/IconVerticalSolidList"/>
    <dgm:cxn modelId="{69A7FA91-2B8A-4E5B-A2CB-7E435F780429}" srcId="{986EDC59-132F-4F9C-91FC-D07AC410C123}" destId="{FDEDED40-3D3F-4896-B27B-58648DDAEA39}" srcOrd="2" destOrd="0" parTransId="{689EB5C1-9AB9-44B9-A94A-544CF8824BD2}" sibTransId="{21B54627-1823-4AB2-9830-4A7DCD5176BC}"/>
    <dgm:cxn modelId="{5B7352A0-D639-4C23-A470-696617FC0141}" type="presOf" srcId="{FDEDED40-3D3F-4896-B27B-58648DDAEA39}" destId="{4F8C1ED5-118E-4EA6-AFED-26652ABB19B7}" srcOrd="0" destOrd="0" presId="urn:microsoft.com/office/officeart/2018/2/layout/IconVerticalSolidList"/>
    <dgm:cxn modelId="{34DFE9AA-FA80-44F2-95A5-B7F50CFB5593}" srcId="{986EDC59-132F-4F9C-91FC-D07AC410C123}" destId="{ABB714EC-2320-4297-9F49-A57EB623027D}" srcOrd="3" destOrd="0" parTransId="{AF826C17-8094-4568-9793-6E4126707AE5}" sibTransId="{AC98C711-3B79-417E-A2D9-E92C36399DEC}"/>
    <dgm:cxn modelId="{19F951BD-E929-4C3E-8316-9D01149A93DC}" srcId="{986EDC59-132F-4F9C-91FC-D07AC410C123}" destId="{4FD13F9F-3F8C-42FE-ACD1-6F3AFD48934F}" srcOrd="0" destOrd="0" parTransId="{E565FA6D-2B53-4926-859B-80FAD12E1F4B}" sibTransId="{D9632FE5-8D31-4109-82A0-E26EC9B42AB0}"/>
    <dgm:cxn modelId="{62D76DE3-D995-49A5-8A2B-E85DDF2627E0}" type="presOf" srcId="{986EDC59-132F-4F9C-91FC-D07AC410C123}" destId="{77A8D287-E3A6-4752-AD0E-70FBB3A6A835}" srcOrd="0" destOrd="0" presId="urn:microsoft.com/office/officeart/2018/2/layout/IconVerticalSolidList"/>
    <dgm:cxn modelId="{A7FF31EE-BB5E-45FF-A0FC-83765C5D8192}" type="presOf" srcId="{E1FF1307-82C2-4DE1-9415-87697F063DE9}" destId="{70AC0C94-D059-4B9D-A729-089166D0C13F}" srcOrd="0" destOrd="0" presId="urn:microsoft.com/office/officeart/2018/2/layout/IconVerticalSolidList"/>
    <dgm:cxn modelId="{27740BC5-AE73-43AE-9FEB-563DE968C310}" type="presParOf" srcId="{77A8D287-E3A6-4752-AD0E-70FBB3A6A835}" destId="{E34D96DD-F69E-4281-AC32-825C7A1D4962}" srcOrd="0" destOrd="0" presId="urn:microsoft.com/office/officeart/2018/2/layout/IconVerticalSolidList"/>
    <dgm:cxn modelId="{DE7FB2DD-0F50-4AB3-9EDA-EFCD4CED2A0F}" type="presParOf" srcId="{E34D96DD-F69E-4281-AC32-825C7A1D4962}" destId="{40C34268-B5AB-480D-A955-71AD95AE4580}" srcOrd="0" destOrd="0" presId="urn:microsoft.com/office/officeart/2018/2/layout/IconVerticalSolidList"/>
    <dgm:cxn modelId="{171D9A75-4524-4255-8BA1-D3946343CF26}" type="presParOf" srcId="{E34D96DD-F69E-4281-AC32-825C7A1D4962}" destId="{5CAC595C-07C1-488E-9E5C-1FC3F83A0FC2}" srcOrd="1" destOrd="0" presId="urn:microsoft.com/office/officeart/2018/2/layout/IconVerticalSolidList"/>
    <dgm:cxn modelId="{DEC14115-8016-43AA-9623-2F405D2EBD56}" type="presParOf" srcId="{E34D96DD-F69E-4281-AC32-825C7A1D4962}" destId="{A0B9D44E-982E-4329-A360-B467531CCC7C}" srcOrd="2" destOrd="0" presId="urn:microsoft.com/office/officeart/2018/2/layout/IconVerticalSolidList"/>
    <dgm:cxn modelId="{395286AE-2249-4227-B459-0E5EBAE9C9D3}" type="presParOf" srcId="{E34D96DD-F69E-4281-AC32-825C7A1D4962}" destId="{FAB15A6C-7268-4427-ABA2-F18FF845F52B}" srcOrd="3" destOrd="0" presId="urn:microsoft.com/office/officeart/2018/2/layout/IconVerticalSolidList"/>
    <dgm:cxn modelId="{78792AB8-0449-48C7-93C6-6C455EDB4E89}" type="presParOf" srcId="{77A8D287-E3A6-4752-AD0E-70FBB3A6A835}" destId="{9400E7DF-33BB-4F71-8148-3FD38151420E}" srcOrd="1" destOrd="0" presId="urn:microsoft.com/office/officeart/2018/2/layout/IconVerticalSolidList"/>
    <dgm:cxn modelId="{C773F581-1B3C-4507-81DB-B2788953903A}" type="presParOf" srcId="{77A8D287-E3A6-4752-AD0E-70FBB3A6A835}" destId="{F9D9096F-E73E-4254-AF52-B0907045A2FF}" srcOrd="2" destOrd="0" presId="urn:microsoft.com/office/officeart/2018/2/layout/IconVerticalSolidList"/>
    <dgm:cxn modelId="{DAAA7178-3646-4A0E-995C-FC0B52D87793}" type="presParOf" srcId="{F9D9096F-E73E-4254-AF52-B0907045A2FF}" destId="{07266CE1-AE86-4637-8FBD-BD8C10753AD2}" srcOrd="0" destOrd="0" presId="urn:microsoft.com/office/officeart/2018/2/layout/IconVerticalSolidList"/>
    <dgm:cxn modelId="{72E7C14C-FDEA-4AFB-9DC6-5FA37F35A320}" type="presParOf" srcId="{F9D9096F-E73E-4254-AF52-B0907045A2FF}" destId="{304FECDF-33CA-4BFF-A4EA-92BA918582BF}" srcOrd="1" destOrd="0" presId="urn:microsoft.com/office/officeart/2018/2/layout/IconVerticalSolidList"/>
    <dgm:cxn modelId="{DC03BD75-B72F-4F71-A7E3-85892AFD6B7E}" type="presParOf" srcId="{F9D9096F-E73E-4254-AF52-B0907045A2FF}" destId="{F4EC6404-54C8-46EE-B1DF-0F6B50CBC559}" srcOrd="2" destOrd="0" presId="urn:microsoft.com/office/officeart/2018/2/layout/IconVerticalSolidList"/>
    <dgm:cxn modelId="{4C5B4B3C-68C2-4F00-BBF6-2D14C47E73E5}" type="presParOf" srcId="{F9D9096F-E73E-4254-AF52-B0907045A2FF}" destId="{70AC0C94-D059-4B9D-A729-089166D0C13F}" srcOrd="3" destOrd="0" presId="urn:microsoft.com/office/officeart/2018/2/layout/IconVerticalSolidList"/>
    <dgm:cxn modelId="{D53616DE-A7A3-48A2-BC9D-E7A9B1290A2C}" type="presParOf" srcId="{77A8D287-E3A6-4752-AD0E-70FBB3A6A835}" destId="{B195907D-ED17-4E7D-8B93-7C5723BDDF4C}" srcOrd="3" destOrd="0" presId="urn:microsoft.com/office/officeart/2018/2/layout/IconVerticalSolidList"/>
    <dgm:cxn modelId="{A868FEC2-3C9A-404E-AEB0-ABF6ABF4D20D}" type="presParOf" srcId="{77A8D287-E3A6-4752-AD0E-70FBB3A6A835}" destId="{F3E44075-4BA1-4D37-B670-A7CB62E65F34}" srcOrd="4" destOrd="0" presId="urn:microsoft.com/office/officeart/2018/2/layout/IconVerticalSolidList"/>
    <dgm:cxn modelId="{87EEBA91-6543-4FBC-BD6F-7D5815D390CB}" type="presParOf" srcId="{F3E44075-4BA1-4D37-B670-A7CB62E65F34}" destId="{10358F3C-D1D8-42B1-BB77-E1F326673DA2}" srcOrd="0" destOrd="0" presId="urn:microsoft.com/office/officeart/2018/2/layout/IconVerticalSolidList"/>
    <dgm:cxn modelId="{F6E0C717-49DA-4C04-B033-7C2266695941}" type="presParOf" srcId="{F3E44075-4BA1-4D37-B670-A7CB62E65F34}" destId="{3D6F98F9-7FF2-4CA3-8462-5AAE26D3135C}" srcOrd="1" destOrd="0" presId="urn:microsoft.com/office/officeart/2018/2/layout/IconVerticalSolidList"/>
    <dgm:cxn modelId="{C64BF301-1A7B-48F8-9623-8EA3D943A4BA}" type="presParOf" srcId="{F3E44075-4BA1-4D37-B670-A7CB62E65F34}" destId="{F4AB8B55-B219-42DA-B7DD-0B151E844DBB}" srcOrd="2" destOrd="0" presId="urn:microsoft.com/office/officeart/2018/2/layout/IconVerticalSolidList"/>
    <dgm:cxn modelId="{C5495F58-7ED7-4218-BE21-0BA98B5FA8D5}" type="presParOf" srcId="{F3E44075-4BA1-4D37-B670-A7CB62E65F34}" destId="{4F8C1ED5-118E-4EA6-AFED-26652ABB19B7}" srcOrd="3" destOrd="0" presId="urn:microsoft.com/office/officeart/2018/2/layout/IconVerticalSolidList"/>
    <dgm:cxn modelId="{7C66C5F5-4A19-46A3-BA95-704639701DFA}" type="presParOf" srcId="{77A8D287-E3A6-4752-AD0E-70FBB3A6A835}" destId="{DE17B498-00CC-4B72-A8F7-160E0EFE0B00}" srcOrd="5" destOrd="0" presId="urn:microsoft.com/office/officeart/2018/2/layout/IconVerticalSolidList"/>
    <dgm:cxn modelId="{E66293DE-17CC-4ADE-8EB8-52ACFB8ADB2E}" type="presParOf" srcId="{77A8D287-E3A6-4752-AD0E-70FBB3A6A835}" destId="{CE85E069-3CF8-4861-A709-43BC453A174A}" srcOrd="6" destOrd="0" presId="urn:microsoft.com/office/officeart/2018/2/layout/IconVerticalSolidList"/>
    <dgm:cxn modelId="{2CD3CF0E-88E3-414D-AFE8-EE7F696BEAE8}" type="presParOf" srcId="{CE85E069-3CF8-4861-A709-43BC453A174A}" destId="{ACAC8B8E-F9F7-4059-AE76-4F44FDFD880B}" srcOrd="0" destOrd="0" presId="urn:microsoft.com/office/officeart/2018/2/layout/IconVerticalSolidList"/>
    <dgm:cxn modelId="{9616DCDF-F8AB-4A7B-951E-933022C0A3F4}" type="presParOf" srcId="{CE85E069-3CF8-4861-A709-43BC453A174A}" destId="{47D5E4DA-8DDE-44DC-93FC-F649D507664C}" srcOrd="1" destOrd="0" presId="urn:microsoft.com/office/officeart/2018/2/layout/IconVerticalSolidList"/>
    <dgm:cxn modelId="{601A7DD2-7577-447E-A164-4F46A8FD9666}" type="presParOf" srcId="{CE85E069-3CF8-4861-A709-43BC453A174A}" destId="{928E23ED-1459-4263-8E33-15BC6A9FD303}" srcOrd="2" destOrd="0" presId="urn:microsoft.com/office/officeart/2018/2/layout/IconVerticalSolidList"/>
    <dgm:cxn modelId="{EB01B95F-B49A-4434-85DA-AEFD01E9C789}" type="presParOf" srcId="{CE85E069-3CF8-4861-A709-43BC453A174A}" destId="{3D63630F-F1B2-49E6-871B-A59ED4EEA1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501C71-BE74-46DD-8E23-B99720DA219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1FC9E7-1418-423B-9882-0C5998D023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Longer contracts significantly reduce churn risk</a:t>
          </a:r>
          <a:endParaRPr lang="en-US"/>
        </a:p>
      </dgm:t>
    </dgm:pt>
    <dgm:pt modelId="{0718C78D-121E-4AAF-A72E-356EBC174E72}" type="parTrans" cxnId="{F5352B5E-A262-4148-8F5E-A161C3E52948}">
      <dgm:prSet/>
      <dgm:spPr/>
      <dgm:t>
        <a:bodyPr/>
        <a:lstStyle/>
        <a:p>
          <a:endParaRPr lang="en-US"/>
        </a:p>
      </dgm:t>
    </dgm:pt>
    <dgm:pt modelId="{8C36CA68-6E59-4A1B-A8E4-B4EB8E543ECA}" type="sibTrans" cxnId="{F5352B5E-A262-4148-8F5E-A161C3E5294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7EB288D-2F99-434D-B193-2A65B201EC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Two-year contracts reduce churn by approximately 85%</a:t>
          </a:r>
          <a:endParaRPr lang="en-US"/>
        </a:p>
      </dgm:t>
    </dgm:pt>
    <dgm:pt modelId="{B34B6188-FE71-4030-83EC-5250AF7FBAF8}" type="parTrans" cxnId="{CA272FA7-E147-4C60-B1AB-A79BD73351E6}">
      <dgm:prSet/>
      <dgm:spPr/>
      <dgm:t>
        <a:bodyPr/>
        <a:lstStyle/>
        <a:p>
          <a:endParaRPr lang="en-US"/>
        </a:p>
      </dgm:t>
    </dgm:pt>
    <dgm:pt modelId="{AC41D0BA-E628-43C0-8F96-1A50C8A29EA7}" type="sibTrans" cxnId="{CA272FA7-E147-4C60-B1AB-A79BD73351E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2CEA406-1436-427B-817A-C912E5F0B3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Fiber-optic customers are about three times more likely to churn</a:t>
          </a:r>
          <a:endParaRPr lang="en-US"/>
        </a:p>
      </dgm:t>
    </dgm:pt>
    <dgm:pt modelId="{5596CFE4-CFE0-474E-8962-E3F8D98AAD6F}" type="parTrans" cxnId="{38C801C1-A85F-4D6A-8F01-D282AA8E2C90}">
      <dgm:prSet/>
      <dgm:spPr/>
      <dgm:t>
        <a:bodyPr/>
        <a:lstStyle/>
        <a:p>
          <a:endParaRPr lang="en-US"/>
        </a:p>
      </dgm:t>
    </dgm:pt>
    <dgm:pt modelId="{5D911D13-B74F-4065-ADDA-F5C92C2153BD}" type="sibTrans" cxnId="{38C801C1-A85F-4D6A-8F01-D282AA8E2C9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B26954A-ABF0-4277-811B-4EC43185CD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Longer customer tenure lowers churn probability</a:t>
          </a:r>
          <a:endParaRPr lang="en-US"/>
        </a:p>
      </dgm:t>
    </dgm:pt>
    <dgm:pt modelId="{234763E0-DAC2-42D3-8B04-5BF5515A0275}" type="parTrans" cxnId="{8570AB09-AA66-46B1-9CE2-68FD65E5FCCB}">
      <dgm:prSet/>
      <dgm:spPr/>
      <dgm:t>
        <a:bodyPr/>
        <a:lstStyle/>
        <a:p>
          <a:endParaRPr lang="en-US"/>
        </a:p>
      </dgm:t>
    </dgm:pt>
    <dgm:pt modelId="{E2D45910-D117-42EB-B179-2F16117DF117}" type="sibTrans" cxnId="{8570AB09-AA66-46B1-9CE2-68FD65E5FCCB}">
      <dgm:prSet/>
      <dgm:spPr/>
      <dgm:t>
        <a:bodyPr/>
        <a:lstStyle/>
        <a:p>
          <a:endParaRPr lang="en-US"/>
        </a:p>
      </dgm:t>
    </dgm:pt>
    <dgm:pt modelId="{D596945C-E292-4208-BC41-86BB6D3E2CCF}" type="pres">
      <dgm:prSet presAssocID="{39501C71-BE74-46DD-8E23-B99720DA219F}" presName="root" presStyleCnt="0">
        <dgm:presLayoutVars>
          <dgm:dir/>
          <dgm:resizeHandles val="exact"/>
        </dgm:presLayoutVars>
      </dgm:prSet>
      <dgm:spPr/>
    </dgm:pt>
    <dgm:pt modelId="{31A4BA89-1FF4-4290-B1AD-D54FCE4B66A0}" type="pres">
      <dgm:prSet presAssocID="{39501C71-BE74-46DD-8E23-B99720DA219F}" presName="container" presStyleCnt="0">
        <dgm:presLayoutVars>
          <dgm:dir/>
          <dgm:resizeHandles val="exact"/>
        </dgm:presLayoutVars>
      </dgm:prSet>
      <dgm:spPr/>
    </dgm:pt>
    <dgm:pt modelId="{F3DC5E9E-F892-4A4F-8089-6F0E8667F2B7}" type="pres">
      <dgm:prSet presAssocID="{8D1FC9E7-1418-423B-9882-0C5998D02389}" presName="compNode" presStyleCnt="0"/>
      <dgm:spPr/>
    </dgm:pt>
    <dgm:pt modelId="{113BA035-3274-4773-A7C9-741BFCA69031}" type="pres">
      <dgm:prSet presAssocID="{8D1FC9E7-1418-423B-9882-0C5998D02389}" presName="iconBgRect" presStyleLbl="bgShp" presStyleIdx="0" presStyleCnt="4"/>
      <dgm:spPr/>
    </dgm:pt>
    <dgm:pt modelId="{DDB18BF9-FCD8-4143-8DB1-CB7535E9641F}" type="pres">
      <dgm:prSet presAssocID="{8D1FC9E7-1418-423B-9882-0C5998D0238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4A23A33-8EE6-4EF0-AF12-6C3E1CB13CCE}" type="pres">
      <dgm:prSet presAssocID="{8D1FC9E7-1418-423B-9882-0C5998D02389}" presName="spaceRect" presStyleCnt="0"/>
      <dgm:spPr/>
    </dgm:pt>
    <dgm:pt modelId="{71CE90F7-D7A0-4DB4-8AD0-4A864E98EA5D}" type="pres">
      <dgm:prSet presAssocID="{8D1FC9E7-1418-423B-9882-0C5998D02389}" presName="textRect" presStyleLbl="revTx" presStyleIdx="0" presStyleCnt="4">
        <dgm:presLayoutVars>
          <dgm:chMax val="1"/>
          <dgm:chPref val="1"/>
        </dgm:presLayoutVars>
      </dgm:prSet>
      <dgm:spPr/>
    </dgm:pt>
    <dgm:pt modelId="{A09ED31C-F30B-4BBA-8F4B-1A4768695207}" type="pres">
      <dgm:prSet presAssocID="{8C36CA68-6E59-4A1B-A8E4-B4EB8E543ECA}" presName="sibTrans" presStyleLbl="sibTrans2D1" presStyleIdx="0" presStyleCnt="0"/>
      <dgm:spPr/>
    </dgm:pt>
    <dgm:pt modelId="{3A37AB27-7F1F-410E-AC78-23A0E009E10F}" type="pres">
      <dgm:prSet presAssocID="{87EB288D-2F99-434D-B193-2A65B201EC17}" presName="compNode" presStyleCnt="0"/>
      <dgm:spPr/>
    </dgm:pt>
    <dgm:pt modelId="{B47A649B-07D5-4E44-9AF7-A01788AF56A3}" type="pres">
      <dgm:prSet presAssocID="{87EB288D-2F99-434D-B193-2A65B201EC17}" presName="iconBgRect" presStyleLbl="bgShp" presStyleIdx="1" presStyleCnt="4"/>
      <dgm:spPr/>
    </dgm:pt>
    <dgm:pt modelId="{01A26B78-BEE6-4139-A685-9A2495C823CE}" type="pres">
      <dgm:prSet presAssocID="{87EB288D-2F99-434D-B193-2A65B201EC1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C14E385-6425-4B85-B564-97C15348ED80}" type="pres">
      <dgm:prSet presAssocID="{87EB288D-2F99-434D-B193-2A65B201EC17}" presName="spaceRect" presStyleCnt="0"/>
      <dgm:spPr/>
    </dgm:pt>
    <dgm:pt modelId="{9C88A531-899D-4B5C-84D5-E93A55BA131C}" type="pres">
      <dgm:prSet presAssocID="{87EB288D-2F99-434D-B193-2A65B201EC17}" presName="textRect" presStyleLbl="revTx" presStyleIdx="1" presStyleCnt="4">
        <dgm:presLayoutVars>
          <dgm:chMax val="1"/>
          <dgm:chPref val="1"/>
        </dgm:presLayoutVars>
      </dgm:prSet>
      <dgm:spPr/>
    </dgm:pt>
    <dgm:pt modelId="{13CE2576-8860-42CF-A23C-0C137A862ACC}" type="pres">
      <dgm:prSet presAssocID="{AC41D0BA-E628-43C0-8F96-1A50C8A29EA7}" presName="sibTrans" presStyleLbl="sibTrans2D1" presStyleIdx="0" presStyleCnt="0"/>
      <dgm:spPr/>
    </dgm:pt>
    <dgm:pt modelId="{B17A60B2-A6B9-41DA-8FE1-54931557B380}" type="pres">
      <dgm:prSet presAssocID="{B2CEA406-1436-427B-817A-C912E5F0B363}" presName="compNode" presStyleCnt="0"/>
      <dgm:spPr/>
    </dgm:pt>
    <dgm:pt modelId="{EC444AE4-2665-44F2-B03D-8B1589EA7E53}" type="pres">
      <dgm:prSet presAssocID="{B2CEA406-1436-427B-817A-C912E5F0B363}" presName="iconBgRect" presStyleLbl="bgShp" presStyleIdx="2" presStyleCnt="4"/>
      <dgm:spPr/>
    </dgm:pt>
    <dgm:pt modelId="{20A7C2E4-D1D7-4055-8C10-D686A64BD4DD}" type="pres">
      <dgm:prSet presAssocID="{B2CEA406-1436-427B-817A-C912E5F0B36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367EEE9D-EE1D-4EB7-ADE8-504724C9C22D}" type="pres">
      <dgm:prSet presAssocID="{B2CEA406-1436-427B-817A-C912E5F0B363}" presName="spaceRect" presStyleCnt="0"/>
      <dgm:spPr/>
    </dgm:pt>
    <dgm:pt modelId="{966A42F3-D7BC-446F-A269-123E43EFAC30}" type="pres">
      <dgm:prSet presAssocID="{B2CEA406-1436-427B-817A-C912E5F0B363}" presName="textRect" presStyleLbl="revTx" presStyleIdx="2" presStyleCnt="4">
        <dgm:presLayoutVars>
          <dgm:chMax val="1"/>
          <dgm:chPref val="1"/>
        </dgm:presLayoutVars>
      </dgm:prSet>
      <dgm:spPr/>
    </dgm:pt>
    <dgm:pt modelId="{EC74E337-B0AB-4DE7-83C6-D25E717BC67E}" type="pres">
      <dgm:prSet presAssocID="{5D911D13-B74F-4065-ADDA-F5C92C2153BD}" presName="sibTrans" presStyleLbl="sibTrans2D1" presStyleIdx="0" presStyleCnt="0"/>
      <dgm:spPr/>
    </dgm:pt>
    <dgm:pt modelId="{E076C528-2E99-4322-B3B2-280486AE23DC}" type="pres">
      <dgm:prSet presAssocID="{4B26954A-ABF0-4277-811B-4EC43185CD2B}" presName="compNode" presStyleCnt="0"/>
      <dgm:spPr/>
    </dgm:pt>
    <dgm:pt modelId="{369EE217-A500-44CE-BD6E-3C29D79135CB}" type="pres">
      <dgm:prSet presAssocID="{4B26954A-ABF0-4277-811B-4EC43185CD2B}" presName="iconBgRect" presStyleLbl="bgShp" presStyleIdx="3" presStyleCnt="4"/>
      <dgm:spPr/>
    </dgm:pt>
    <dgm:pt modelId="{115FC8BD-FC44-4124-888B-02A480C9E7ED}" type="pres">
      <dgm:prSet presAssocID="{4B26954A-ABF0-4277-811B-4EC43185CD2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2A7CA1E-8D51-482A-B9FA-0CB0A059627D}" type="pres">
      <dgm:prSet presAssocID="{4B26954A-ABF0-4277-811B-4EC43185CD2B}" presName="spaceRect" presStyleCnt="0"/>
      <dgm:spPr/>
    </dgm:pt>
    <dgm:pt modelId="{C9EE380D-7123-4A75-BA5A-0FEE83743E07}" type="pres">
      <dgm:prSet presAssocID="{4B26954A-ABF0-4277-811B-4EC43185CD2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570AB09-AA66-46B1-9CE2-68FD65E5FCCB}" srcId="{39501C71-BE74-46DD-8E23-B99720DA219F}" destId="{4B26954A-ABF0-4277-811B-4EC43185CD2B}" srcOrd="3" destOrd="0" parTransId="{234763E0-DAC2-42D3-8B04-5BF5515A0275}" sibTransId="{E2D45910-D117-42EB-B179-2F16117DF117}"/>
    <dgm:cxn modelId="{394DDD0E-45D1-4914-9532-2169FCD1AC6B}" type="presOf" srcId="{39501C71-BE74-46DD-8E23-B99720DA219F}" destId="{D596945C-E292-4208-BC41-86BB6D3E2CCF}" srcOrd="0" destOrd="0" presId="urn:microsoft.com/office/officeart/2018/2/layout/IconCircleList"/>
    <dgm:cxn modelId="{BF203F17-D31C-4B7E-8E8B-6EA543D82087}" type="presOf" srcId="{87EB288D-2F99-434D-B193-2A65B201EC17}" destId="{9C88A531-899D-4B5C-84D5-E93A55BA131C}" srcOrd="0" destOrd="0" presId="urn:microsoft.com/office/officeart/2018/2/layout/IconCircleList"/>
    <dgm:cxn modelId="{986C924A-3C28-44A6-925F-94D8B2126F0A}" type="presOf" srcId="{4B26954A-ABF0-4277-811B-4EC43185CD2B}" destId="{C9EE380D-7123-4A75-BA5A-0FEE83743E07}" srcOrd="0" destOrd="0" presId="urn:microsoft.com/office/officeart/2018/2/layout/IconCircleList"/>
    <dgm:cxn modelId="{44A0B14B-272E-4AB9-A789-DC8A37A8A5A7}" type="presOf" srcId="{B2CEA406-1436-427B-817A-C912E5F0B363}" destId="{966A42F3-D7BC-446F-A269-123E43EFAC30}" srcOrd="0" destOrd="0" presId="urn:microsoft.com/office/officeart/2018/2/layout/IconCircleList"/>
    <dgm:cxn modelId="{06055F57-CD67-437C-B3CB-979453E1D0EC}" type="presOf" srcId="{5D911D13-B74F-4065-ADDA-F5C92C2153BD}" destId="{EC74E337-B0AB-4DE7-83C6-D25E717BC67E}" srcOrd="0" destOrd="0" presId="urn:microsoft.com/office/officeart/2018/2/layout/IconCircleList"/>
    <dgm:cxn modelId="{F5352B5E-A262-4148-8F5E-A161C3E52948}" srcId="{39501C71-BE74-46DD-8E23-B99720DA219F}" destId="{8D1FC9E7-1418-423B-9882-0C5998D02389}" srcOrd="0" destOrd="0" parTransId="{0718C78D-121E-4AAF-A72E-356EBC174E72}" sibTransId="{8C36CA68-6E59-4A1B-A8E4-B4EB8E543ECA}"/>
    <dgm:cxn modelId="{F9B99263-DA33-404D-8E00-7A5CFB9CE2FB}" type="presOf" srcId="{8D1FC9E7-1418-423B-9882-0C5998D02389}" destId="{71CE90F7-D7A0-4DB4-8AD0-4A864E98EA5D}" srcOrd="0" destOrd="0" presId="urn:microsoft.com/office/officeart/2018/2/layout/IconCircleList"/>
    <dgm:cxn modelId="{CA272FA7-E147-4C60-B1AB-A79BD73351E6}" srcId="{39501C71-BE74-46DD-8E23-B99720DA219F}" destId="{87EB288D-2F99-434D-B193-2A65B201EC17}" srcOrd="1" destOrd="0" parTransId="{B34B6188-FE71-4030-83EC-5250AF7FBAF8}" sibTransId="{AC41D0BA-E628-43C0-8F96-1A50C8A29EA7}"/>
    <dgm:cxn modelId="{33751EC0-C2E8-4061-B013-C112F2689E86}" type="presOf" srcId="{8C36CA68-6E59-4A1B-A8E4-B4EB8E543ECA}" destId="{A09ED31C-F30B-4BBA-8F4B-1A4768695207}" srcOrd="0" destOrd="0" presId="urn:microsoft.com/office/officeart/2018/2/layout/IconCircleList"/>
    <dgm:cxn modelId="{38C801C1-A85F-4D6A-8F01-D282AA8E2C90}" srcId="{39501C71-BE74-46DD-8E23-B99720DA219F}" destId="{B2CEA406-1436-427B-817A-C912E5F0B363}" srcOrd="2" destOrd="0" parTransId="{5596CFE4-CFE0-474E-8962-E3F8D98AAD6F}" sibTransId="{5D911D13-B74F-4065-ADDA-F5C92C2153BD}"/>
    <dgm:cxn modelId="{F9F0ABE5-A0E9-4F43-BCFD-59CDD34D139C}" type="presOf" srcId="{AC41D0BA-E628-43C0-8F96-1A50C8A29EA7}" destId="{13CE2576-8860-42CF-A23C-0C137A862ACC}" srcOrd="0" destOrd="0" presId="urn:microsoft.com/office/officeart/2018/2/layout/IconCircleList"/>
    <dgm:cxn modelId="{5F9B0E6A-FCD2-47A5-AEAE-67F57FD2493B}" type="presParOf" srcId="{D596945C-E292-4208-BC41-86BB6D3E2CCF}" destId="{31A4BA89-1FF4-4290-B1AD-D54FCE4B66A0}" srcOrd="0" destOrd="0" presId="urn:microsoft.com/office/officeart/2018/2/layout/IconCircleList"/>
    <dgm:cxn modelId="{2DEA2D54-4FD0-4018-A5B1-CA0B0202E51C}" type="presParOf" srcId="{31A4BA89-1FF4-4290-B1AD-D54FCE4B66A0}" destId="{F3DC5E9E-F892-4A4F-8089-6F0E8667F2B7}" srcOrd="0" destOrd="0" presId="urn:microsoft.com/office/officeart/2018/2/layout/IconCircleList"/>
    <dgm:cxn modelId="{CA3550FD-F3BC-4E82-B4C9-1DB0B4D7F744}" type="presParOf" srcId="{F3DC5E9E-F892-4A4F-8089-6F0E8667F2B7}" destId="{113BA035-3274-4773-A7C9-741BFCA69031}" srcOrd="0" destOrd="0" presId="urn:microsoft.com/office/officeart/2018/2/layout/IconCircleList"/>
    <dgm:cxn modelId="{92BF5269-B534-47A7-A32D-111885B6AC84}" type="presParOf" srcId="{F3DC5E9E-F892-4A4F-8089-6F0E8667F2B7}" destId="{DDB18BF9-FCD8-4143-8DB1-CB7535E9641F}" srcOrd="1" destOrd="0" presId="urn:microsoft.com/office/officeart/2018/2/layout/IconCircleList"/>
    <dgm:cxn modelId="{2F37F8C9-9316-473A-81DC-E60913B254DE}" type="presParOf" srcId="{F3DC5E9E-F892-4A4F-8089-6F0E8667F2B7}" destId="{04A23A33-8EE6-4EF0-AF12-6C3E1CB13CCE}" srcOrd="2" destOrd="0" presId="urn:microsoft.com/office/officeart/2018/2/layout/IconCircleList"/>
    <dgm:cxn modelId="{69B5658D-5F4A-4511-94E4-5E939B875D5C}" type="presParOf" srcId="{F3DC5E9E-F892-4A4F-8089-6F0E8667F2B7}" destId="{71CE90F7-D7A0-4DB4-8AD0-4A864E98EA5D}" srcOrd="3" destOrd="0" presId="urn:microsoft.com/office/officeart/2018/2/layout/IconCircleList"/>
    <dgm:cxn modelId="{AC690BED-8E85-4521-910C-406D1739387E}" type="presParOf" srcId="{31A4BA89-1FF4-4290-B1AD-D54FCE4B66A0}" destId="{A09ED31C-F30B-4BBA-8F4B-1A4768695207}" srcOrd="1" destOrd="0" presId="urn:microsoft.com/office/officeart/2018/2/layout/IconCircleList"/>
    <dgm:cxn modelId="{8D4FD96B-4406-4DB7-A5F5-31F5911C1964}" type="presParOf" srcId="{31A4BA89-1FF4-4290-B1AD-D54FCE4B66A0}" destId="{3A37AB27-7F1F-410E-AC78-23A0E009E10F}" srcOrd="2" destOrd="0" presId="urn:microsoft.com/office/officeart/2018/2/layout/IconCircleList"/>
    <dgm:cxn modelId="{BD6A5D97-4E3E-4459-84BA-8063F2CCCE73}" type="presParOf" srcId="{3A37AB27-7F1F-410E-AC78-23A0E009E10F}" destId="{B47A649B-07D5-4E44-9AF7-A01788AF56A3}" srcOrd="0" destOrd="0" presId="urn:microsoft.com/office/officeart/2018/2/layout/IconCircleList"/>
    <dgm:cxn modelId="{AA597214-31FF-49E8-9E10-B476E18004EC}" type="presParOf" srcId="{3A37AB27-7F1F-410E-AC78-23A0E009E10F}" destId="{01A26B78-BEE6-4139-A685-9A2495C823CE}" srcOrd="1" destOrd="0" presId="urn:microsoft.com/office/officeart/2018/2/layout/IconCircleList"/>
    <dgm:cxn modelId="{2D15E6AF-7482-431E-874D-C4C14F44F356}" type="presParOf" srcId="{3A37AB27-7F1F-410E-AC78-23A0E009E10F}" destId="{EC14E385-6425-4B85-B564-97C15348ED80}" srcOrd="2" destOrd="0" presId="urn:microsoft.com/office/officeart/2018/2/layout/IconCircleList"/>
    <dgm:cxn modelId="{A8503739-C16A-4DD7-BB4D-D860A5648BFD}" type="presParOf" srcId="{3A37AB27-7F1F-410E-AC78-23A0E009E10F}" destId="{9C88A531-899D-4B5C-84D5-E93A55BA131C}" srcOrd="3" destOrd="0" presId="urn:microsoft.com/office/officeart/2018/2/layout/IconCircleList"/>
    <dgm:cxn modelId="{411EBC87-5EDF-4242-8C49-9D130E828FC5}" type="presParOf" srcId="{31A4BA89-1FF4-4290-B1AD-D54FCE4B66A0}" destId="{13CE2576-8860-42CF-A23C-0C137A862ACC}" srcOrd="3" destOrd="0" presId="urn:microsoft.com/office/officeart/2018/2/layout/IconCircleList"/>
    <dgm:cxn modelId="{0F23EA76-23B4-401F-BFA3-6AB6AB5C67FA}" type="presParOf" srcId="{31A4BA89-1FF4-4290-B1AD-D54FCE4B66A0}" destId="{B17A60B2-A6B9-41DA-8FE1-54931557B380}" srcOrd="4" destOrd="0" presId="urn:microsoft.com/office/officeart/2018/2/layout/IconCircleList"/>
    <dgm:cxn modelId="{7C86BE11-CD3F-4850-985B-9DA75BF2E32E}" type="presParOf" srcId="{B17A60B2-A6B9-41DA-8FE1-54931557B380}" destId="{EC444AE4-2665-44F2-B03D-8B1589EA7E53}" srcOrd="0" destOrd="0" presId="urn:microsoft.com/office/officeart/2018/2/layout/IconCircleList"/>
    <dgm:cxn modelId="{EAC0DCC9-6F4E-40AB-8E19-C520F6C0590E}" type="presParOf" srcId="{B17A60B2-A6B9-41DA-8FE1-54931557B380}" destId="{20A7C2E4-D1D7-4055-8C10-D686A64BD4DD}" srcOrd="1" destOrd="0" presId="urn:microsoft.com/office/officeart/2018/2/layout/IconCircleList"/>
    <dgm:cxn modelId="{CD045A56-5E6E-4AC9-A4F0-B710637AB6DD}" type="presParOf" srcId="{B17A60B2-A6B9-41DA-8FE1-54931557B380}" destId="{367EEE9D-EE1D-4EB7-ADE8-504724C9C22D}" srcOrd="2" destOrd="0" presId="urn:microsoft.com/office/officeart/2018/2/layout/IconCircleList"/>
    <dgm:cxn modelId="{80DBF5F5-F8A4-4175-B9F7-AF654D4E5600}" type="presParOf" srcId="{B17A60B2-A6B9-41DA-8FE1-54931557B380}" destId="{966A42F3-D7BC-446F-A269-123E43EFAC30}" srcOrd="3" destOrd="0" presId="urn:microsoft.com/office/officeart/2018/2/layout/IconCircleList"/>
    <dgm:cxn modelId="{12E055C8-2AC6-4F17-98C6-EEEE9CB66F0E}" type="presParOf" srcId="{31A4BA89-1FF4-4290-B1AD-D54FCE4B66A0}" destId="{EC74E337-B0AB-4DE7-83C6-D25E717BC67E}" srcOrd="5" destOrd="0" presId="urn:microsoft.com/office/officeart/2018/2/layout/IconCircleList"/>
    <dgm:cxn modelId="{DC514C44-4526-4DAC-99CC-17F5527037BA}" type="presParOf" srcId="{31A4BA89-1FF4-4290-B1AD-D54FCE4B66A0}" destId="{E076C528-2E99-4322-B3B2-280486AE23DC}" srcOrd="6" destOrd="0" presId="urn:microsoft.com/office/officeart/2018/2/layout/IconCircleList"/>
    <dgm:cxn modelId="{C7BB3F90-B6D0-4567-A895-67120B10DED4}" type="presParOf" srcId="{E076C528-2E99-4322-B3B2-280486AE23DC}" destId="{369EE217-A500-44CE-BD6E-3C29D79135CB}" srcOrd="0" destOrd="0" presId="urn:microsoft.com/office/officeart/2018/2/layout/IconCircleList"/>
    <dgm:cxn modelId="{63112C9B-765B-4F89-970C-C594EE308FB9}" type="presParOf" srcId="{E076C528-2E99-4322-B3B2-280486AE23DC}" destId="{115FC8BD-FC44-4124-888B-02A480C9E7ED}" srcOrd="1" destOrd="0" presId="urn:microsoft.com/office/officeart/2018/2/layout/IconCircleList"/>
    <dgm:cxn modelId="{9B8C379D-79D7-41A3-B1D8-8D2B5523C3FA}" type="presParOf" srcId="{E076C528-2E99-4322-B3B2-280486AE23DC}" destId="{F2A7CA1E-8D51-482A-B9FA-0CB0A059627D}" srcOrd="2" destOrd="0" presId="urn:microsoft.com/office/officeart/2018/2/layout/IconCircleList"/>
    <dgm:cxn modelId="{F1F661B4-364C-4C46-B843-209F3BA36A78}" type="presParOf" srcId="{E076C528-2E99-4322-B3B2-280486AE23DC}" destId="{C9EE380D-7123-4A75-BA5A-0FEE83743E0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9F8DFF8-EBA4-4C3B-8F20-81D94F477F34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276AB88-5C66-4E23-9A25-B09EB0E64EEF}">
      <dgm:prSet/>
      <dgm:spPr/>
      <dgm:t>
        <a:bodyPr/>
        <a:lstStyle/>
        <a:p>
          <a:r>
            <a:rPr lang="en-US" b="0" i="0" baseline="0" dirty="0"/>
            <a:t>Encourage month-to-month customers to adopt longer contracts</a:t>
          </a:r>
          <a:endParaRPr lang="en-US" dirty="0"/>
        </a:p>
      </dgm:t>
    </dgm:pt>
    <dgm:pt modelId="{4789DA86-8FB8-41C2-9FA9-969419700D19}" type="parTrans" cxnId="{A4AB9047-0182-4608-AEF2-75464D8803CC}">
      <dgm:prSet/>
      <dgm:spPr/>
      <dgm:t>
        <a:bodyPr/>
        <a:lstStyle/>
        <a:p>
          <a:endParaRPr lang="en-US"/>
        </a:p>
      </dgm:t>
    </dgm:pt>
    <dgm:pt modelId="{8DB80B29-DFC8-4546-B044-9F591202DF91}" type="sibTrans" cxnId="{A4AB9047-0182-4608-AEF2-75464D8803CC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24277FC9-B8B4-4D01-9985-91A685846642}">
      <dgm:prSet/>
      <dgm:spPr/>
      <dgm:t>
        <a:bodyPr/>
        <a:lstStyle/>
        <a:p>
          <a:r>
            <a:rPr lang="en-US" b="0" i="0" baseline="0"/>
            <a:t>Focus retention efforts on early-tenure customers</a:t>
          </a:r>
          <a:endParaRPr lang="en-US"/>
        </a:p>
      </dgm:t>
    </dgm:pt>
    <dgm:pt modelId="{0BCBB671-6BAE-4103-94E3-43D6F6E8D78D}" type="parTrans" cxnId="{1D979B06-EC35-4D7C-ABEC-68E28C75A654}">
      <dgm:prSet/>
      <dgm:spPr/>
      <dgm:t>
        <a:bodyPr/>
        <a:lstStyle/>
        <a:p>
          <a:endParaRPr lang="en-US"/>
        </a:p>
      </dgm:t>
    </dgm:pt>
    <dgm:pt modelId="{91562540-282D-4032-ABBA-42FCDCEFCEF7}" type="sibTrans" cxnId="{1D979B06-EC35-4D7C-ABEC-68E28C75A65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714F02B-BF5D-459E-A2B2-90913B60E625}">
      <dgm:prSet/>
      <dgm:spPr/>
      <dgm:t>
        <a:bodyPr/>
        <a:lstStyle/>
        <a:p>
          <a:r>
            <a:rPr lang="en-US" b="0" i="0" baseline="0"/>
            <a:t>Provide proactive support to fiber-optic customers</a:t>
          </a:r>
          <a:endParaRPr lang="en-US"/>
        </a:p>
      </dgm:t>
    </dgm:pt>
    <dgm:pt modelId="{E49BA382-0C24-47CE-9C1B-50D9B0678F0C}" type="parTrans" cxnId="{243EBD95-87C1-4261-AA5B-795EB41D88AE}">
      <dgm:prSet/>
      <dgm:spPr/>
      <dgm:t>
        <a:bodyPr/>
        <a:lstStyle/>
        <a:p>
          <a:endParaRPr lang="en-US"/>
        </a:p>
      </dgm:t>
    </dgm:pt>
    <dgm:pt modelId="{2785B247-809B-40E4-9F33-EBBE9E02882D}" type="sibTrans" cxnId="{243EBD95-87C1-4261-AA5B-795EB41D88AE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9797C15C-90BD-403A-822E-77E0024D0E76}">
      <dgm:prSet/>
      <dgm:spPr/>
      <dgm:t>
        <a:bodyPr/>
        <a:lstStyle/>
        <a:p>
          <a:r>
            <a:rPr lang="en-US" b="0" i="0" baseline="0"/>
            <a:t>Use churn probabilities for targeted retention campaigns</a:t>
          </a:r>
          <a:endParaRPr lang="en-US"/>
        </a:p>
      </dgm:t>
    </dgm:pt>
    <dgm:pt modelId="{F6937C64-4727-45B9-AE3E-8000BF233744}" type="parTrans" cxnId="{C5AD2BD4-5C73-4E4C-BCE7-8308864872F4}">
      <dgm:prSet/>
      <dgm:spPr/>
      <dgm:t>
        <a:bodyPr/>
        <a:lstStyle/>
        <a:p>
          <a:endParaRPr lang="en-US"/>
        </a:p>
      </dgm:t>
    </dgm:pt>
    <dgm:pt modelId="{AEC3E758-1D61-4E9E-A746-ECBBD7B43BB0}" type="sibTrans" cxnId="{C5AD2BD4-5C73-4E4C-BCE7-8308864872F4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FE3C0AA0-21AC-0C41-B7D8-51394A78355D}" type="pres">
      <dgm:prSet presAssocID="{C9F8DFF8-EBA4-4C3B-8F20-81D94F477F34}" presName="Name0" presStyleCnt="0">
        <dgm:presLayoutVars>
          <dgm:animLvl val="lvl"/>
          <dgm:resizeHandles val="exact"/>
        </dgm:presLayoutVars>
      </dgm:prSet>
      <dgm:spPr/>
    </dgm:pt>
    <dgm:pt modelId="{92F1DF26-A209-0F41-BE8E-AF1714C1F872}" type="pres">
      <dgm:prSet presAssocID="{6276AB88-5C66-4E23-9A25-B09EB0E64EEF}" presName="compositeNode" presStyleCnt="0">
        <dgm:presLayoutVars>
          <dgm:bulletEnabled val="1"/>
        </dgm:presLayoutVars>
      </dgm:prSet>
      <dgm:spPr/>
    </dgm:pt>
    <dgm:pt modelId="{4F389DC6-36EC-714D-BE54-0877CDC58696}" type="pres">
      <dgm:prSet presAssocID="{6276AB88-5C66-4E23-9A25-B09EB0E64EEF}" presName="bgRect" presStyleLbl="alignNode1" presStyleIdx="0" presStyleCnt="4"/>
      <dgm:spPr/>
    </dgm:pt>
    <dgm:pt modelId="{DBBC0E66-06A5-C14B-AD1E-8744EAB7A767}" type="pres">
      <dgm:prSet presAssocID="{8DB80B29-DFC8-4546-B044-9F591202DF91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E7A21263-6866-CB4E-9D41-4307F25DE4AC}" type="pres">
      <dgm:prSet presAssocID="{6276AB88-5C66-4E23-9A25-B09EB0E64EEF}" presName="nodeRect" presStyleLbl="alignNode1" presStyleIdx="0" presStyleCnt="4">
        <dgm:presLayoutVars>
          <dgm:bulletEnabled val="1"/>
        </dgm:presLayoutVars>
      </dgm:prSet>
      <dgm:spPr/>
    </dgm:pt>
    <dgm:pt modelId="{582BFECD-E48A-6440-9EE9-823967CC3A05}" type="pres">
      <dgm:prSet presAssocID="{8DB80B29-DFC8-4546-B044-9F591202DF91}" presName="sibTrans" presStyleCnt="0"/>
      <dgm:spPr/>
    </dgm:pt>
    <dgm:pt modelId="{5708D875-7706-8A40-9417-582F19AE9005}" type="pres">
      <dgm:prSet presAssocID="{24277FC9-B8B4-4D01-9985-91A685846642}" presName="compositeNode" presStyleCnt="0">
        <dgm:presLayoutVars>
          <dgm:bulletEnabled val="1"/>
        </dgm:presLayoutVars>
      </dgm:prSet>
      <dgm:spPr/>
    </dgm:pt>
    <dgm:pt modelId="{3B2C17DD-8D24-AB4F-AED8-C19142A36D25}" type="pres">
      <dgm:prSet presAssocID="{24277FC9-B8B4-4D01-9985-91A685846642}" presName="bgRect" presStyleLbl="alignNode1" presStyleIdx="1" presStyleCnt="4"/>
      <dgm:spPr/>
    </dgm:pt>
    <dgm:pt modelId="{C938A153-0AAD-0F4B-91CC-37363CB00841}" type="pres">
      <dgm:prSet presAssocID="{91562540-282D-4032-ABBA-42FCDCEFCEF7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7C7CB412-429B-FB4F-8516-48C1EEF6B9DE}" type="pres">
      <dgm:prSet presAssocID="{24277FC9-B8B4-4D01-9985-91A685846642}" presName="nodeRect" presStyleLbl="alignNode1" presStyleIdx="1" presStyleCnt="4">
        <dgm:presLayoutVars>
          <dgm:bulletEnabled val="1"/>
        </dgm:presLayoutVars>
      </dgm:prSet>
      <dgm:spPr/>
    </dgm:pt>
    <dgm:pt modelId="{910D97DB-7C6D-7445-8FF8-823001699584}" type="pres">
      <dgm:prSet presAssocID="{91562540-282D-4032-ABBA-42FCDCEFCEF7}" presName="sibTrans" presStyleCnt="0"/>
      <dgm:spPr/>
    </dgm:pt>
    <dgm:pt modelId="{E8B9723A-8A15-0542-B891-86E214001143}" type="pres">
      <dgm:prSet presAssocID="{B714F02B-BF5D-459E-A2B2-90913B60E625}" presName="compositeNode" presStyleCnt="0">
        <dgm:presLayoutVars>
          <dgm:bulletEnabled val="1"/>
        </dgm:presLayoutVars>
      </dgm:prSet>
      <dgm:spPr/>
    </dgm:pt>
    <dgm:pt modelId="{1D324A5A-F963-4243-9D97-5793D89C614C}" type="pres">
      <dgm:prSet presAssocID="{B714F02B-BF5D-459E-A2B2-90913B60E625}" presName="bgRect" presStyleLbl="alignNode1" presStyleIdx="2" presStyleCnt="4"/>
      <dgm:spPr/>
    </dgm:pt>
    <dgm:pt modelId="{87171D98-85DC-9A44-869E-D85669CDBDCA}" type="pres">
      <dgm:prSet presAssocID="{2785B247-809B-40E4-9F33-EBBE9E02882D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6BCDB43A-937C-9147-9D17-5079145E507B}" type="pres">
      <dgm:prSet presAssocID="{B714F02B-BF5D-459E-A2B2-90913B60E625}" presName="nodeRect" presStyleLbl="alignNode1" presStyleIdx="2" presStyleCnt="4">
        <dgm:presLayoutVars>
          <dgm:bulletEnabled val="1"/>
        </dgm:presLayoutVars>
      </dgm:prSet>
      <dgm:spPr/>
    </dgm:pt>
    <dgm:pt modelId="{286305B9-811E-4949-9936-1DD331463ACD}" type="pres">
      <dgm:prSet presAssocID="{2785B247-809B-40E4-9F33-EBBE9E02882D}" presName="sibTrans" presStyleCnt="0"/>
      <dgm:spPr/>
    </dgm:pt>
    <dgm:pt modelId="{F7F5EC09-4979-934B-A451-D3AF9F3E8D67}" type="pres">
      <dgm:prSet presAssocID="{9797C15C-90BD-403A-822E-77E0024D0E76}" presName="compositeNode" presStyleCnt="0">
        <dgm:presLayoutVars>
          <dgm:bulletEnabled val="1"/>
        </dgm:presLayoutVars>
      </dgm:prSet>
      <dgm:spPr/>
    </dgm:pt>
    <dgm:pt modelId="{C2C3BC42-D5C7-004C-9757-9DCD47D9AAD7}" type="pres">
      <dgm:prSet presAssocID="{9797C15C-90BD-403A-822E-77E0024D0E76}" presName="bgRect" presStyleLbl="alignNode1" presStyleIdx="3" presStyleCnt="4"/>
      <dgm:spPr/>
    </dgm:pt>
    <dgm:pt modelId="{17EF134A-CAA2-D045-B6A3-0276CA2CF165}" type="pres">
      <dgm:prSet presAssocID="{AEC3E758-1D61-4E9E-A746-ECBBD7B43BB0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D96E1B79-162B-4F44-993D-C62C1A28F3D3}" type="pres">
      <dgm:prSet presAssocID="{9797C15C-90BD-403A-822E-77E0024D0E76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1D979B06-EC35-4D7C-ABEC-68E28C75A654}" srcId="{C9F8DFF8-EBA4-4C3B-8F20-81D94F477F34}" destId="{24277FC9-B8B4-4D01-9985-91A685846642}" srcOrd="1" destOrd="0" parTransId="{0BCBB671-6BAE-4103-94E3-43D6F6E8D78D}" sibTransId="{91562540-282D-4032-ABBA-42FCDCEFCEF7}"/>
    <dgm:cxn modelId="{24C79A2D-B13E-B14F-B831-39ED2D4FEE79}" type="presOf" srcId="{B714F02B-BF5D-459E-A2B2-90913B60E625}" destId="{6BCDB43A-937C-9147-9D17-5079145E507B}" srcOrd="1" destOrd="0" presId="urn:microsoft.com/office/officeart/2016/7/layout/LinearBlockProcessNumbered"/>
    <dgm:cxn modelId="{DDEBA442-2949-824B-BF58-7DAF6D5E0991}" type="presOf" srcId="{2785B247-809B-40E4-9F33-EBBE9E02882D}" destId="{87171D98-85DC-9A44-869E-D85669CDBDCA}" srcOrd="0" destOrd="0" presId="urn:microsoft.com/office/officeart/2016/7/layout/LinearBlockProcessNumbered"/>
    <dgm:cxn modelId="{70C2BE44-7632-864E-9F0D-6041805CFCEC}" type="presOf" srcId="{24277FC9-B8B4-4D01-9985-91A685846642}" destId="{3B2C17DD-8D24-AB4F-AED8-C19142A36D25}" srcOrd="0" destOrd="0" presId="urn:microsoft.com/office/officeart/2016/7/layout/LinearBlockProcessNumbered"/>
    <dgm:cxn modelId="{A4AB9047-0182-4608-AEF2-75464D8803CC}" srcId="{C9F8DFF8-EBA4-4C3B-8F20-81D94F477F34}" destId="{6276AB88-5C66-4E23-9A25-B09EB0E64EEF}" srcOrd="0" destOrd="0" parTransId="{4789DA86-8FB8-41C2-9FA9-969419700D19}" sibTransId="{8DB80B29-DFC8-4546-B044-9F591202DF91}"/>
    <dgm:cxn modelId="{BD43BD4A-EC1F-1F43-8ED7-3862F56A13D9}" type="presOf" srcId="{8DB80B29-DFC8-4546-B044-9F591202DF91}" destId="{DBBC0E66-06A5-C14B-AD1E-8744EAB7A767}" srcOrd="0" destOrd="0" presId="urn:microsoft.com/office/officeart/2016/7/layout/LinearBlockProcessNumbered"/>
    <dgm:cxn modelId="{4DDB514C-5E39-0640-94EA-73F250D84868}" type="presOf" srcId="{91562540-282D-4032-ABBA-42FCDCEFCEF7}" destId="{C938A153-0AAD-0F4B-91CC-37363CB00841}" srcOrd="0" destOrd="0" presId="urn:microsoft.com/office/officeart/2016/7/layout/LinearBlockProcessNumbered"/>
    <dgm:cxn modelId="{FA60B25C-B317-0F4D-A95A-0830435ACC2A}" type="presOf" srcId="{AEC3E758-1D61-4E9E-A746-ECBBD7B43BB0}" destId="{17EF134A-CAA2-D045-B6A3-0276CA2CF165}" srcOrd="0" destOrd="0" presId="urn:microsoft.com/office/officeart/2016/7/layout/LinearBlockProcessNumbered"/>
    <dgm:cxn modelId="{42D4F360-0AF2-4940-8EC0-17EA1C7DD6EC}" type="presOf" srcId="{6276AB88-5C66-4E23-9A25-B09EB0E64EEF}" destId="{E7A21263-6866-CB4E-9D41-4307F25DE4AC}" srcOrd="1" destOrd="0" presId="urn:microsoft.com/office/officeart/2016/7/layout/LinearBlockProcessNumbered"/>
    <dgm:cxn modelId="{C174257D-7812-6E47-8776-2C2F870D1A21}" type="presOf" srcId="{6276AB88-5C66-4E23-9A25-B09EB0E64EEF}" destId="{4F389DC6-36EC-714D-BE54-0877CDC58696}" srcOrd="0" destOrd="0" presId="urn:microsoft.com/office/officeart/2016/7/layout/LinearBlockProcessNumbered"/>
    <dgm:cxn modelId="{243EBD95-87C1-4261-AA5B-795EB41D88AE}" srcId="{C9F8DFF8-EBA4-4C3B-8F20-81D94F477F34}" destId="{B714F02B-BF5D-459E-A2B2-90913B60E625}" srcOrd="2" destOrd="0" parTransId="{E49BA382-0C24-47CE-9C1B-50D9B0678F0C}" sibTransId="{2785B247-809B-40E4-9F33-EBBE9E02882D}"/>
    <dgm:cxn modelId="{68D08F9D-6DCB-ED44-8EFB-3CE33DC939B1}" type="presOf" srcId="{C9F8DFF8-EBA4-4C3B-8F20-81D94F477F34}" destId="{FE3C0AA0-21AC-0C41-B7D8-51394A78355D}" srcOrd="0" destOrd="0" presId="urn:microsoft.com/office/officeart/2016/7/layout/LinearBlockProcessNumbered"/>
    <dgm:cxn modelId="{53D493B6-05CA-BA41-9B70-516AD7419208}" type="presOf" srcId="{24277FC9-B8B4-4D01-9985-91A685846642}" destId="{7C7CB412-429B-FB4F-8516-48C1EEF6B9DE}" srcOrd="1" destOrd="0" presId="urn:microsoft.com/office/officeart/2016/7/layout/LinearBlockProcessNumbered"/>
    <dgm:cxn modelId="{C5AD2BD4-5C73-4E4C-BCE7-8308864872F4}" srcId="{C9F8DFF8-EBA4-4C3B-8F20-81D94F477F34}" destId="{9797C15C-90BD-403A-822E-77E0024D0E76}" srcOrd="3" destOrd="0" parTransId="{F6937C64-4727-45B9-AE3E-8000BF233744}" sibTransId="{AEC3E758-1D61-4E9E-A746-ECBBD7B43BB0}"/>
    <dgm:cxn modelId="{3FEC8EDE-1556-3147-B55F-CD4EED68BC5C}" type="presOf" srcId="{9797C15C-90BD-403A-822E-77E0024D0E76}" destId="{D96E1B79-162B-4F44-993D-C62C1A28F3D3}" srcOrd="1" destOrd="0" presId="urn:microsoft.com/office/officeart/2016/7/layout/LinearBlockProcessNumbered"/>
    <dgm:cxn modelId="{660F0CDF-79A0-584E-9AEE-BEF09609F48B}" type="presOf" srcId="{9797C15C-90BD-403A-822E-77E0024D0E76}" destId="{C2C3BC42-D5C7-004C-9757-9DCD47D9AAD7}" srcOrd="0" destOrd="0" presId="urn:microsoft.com/office/officeart/2016/7/layout/LinearBlockProcessNumbered"/>
    <dgm:cxn modelId="{67D663DF-83D5-0946-A9DC-539EF7D126E7}" type="presOf" srcId="{B714F02B-BF5D-459E-A2B2-90913B60E625}" destId="{1D324A5A-F963-4243-9D97-5793D89C614C}" srcOrd="0" destOrd="0" presId="urn:microsoft.com/office/officeart/2016/7/layout/LinearBlockProcessNumbered"/>
    <dgm:cxn modelId="{B06A2236-47F9-E548-90D4-A00FDB975103}" type="presParOf" srcId="{FE3C0AA0-21AC-0C41-B7D8-51394A78355D}" destId="{92F1DF26-A209-0F41-BE8E-AF1714C1F872}" srcOrd="0" destOrd="0" presId="urn:microsoft.com/office/officeart/2016/7/layout/LinearBlockProcessNumbered"/>
    <dgm:cxn modelId="{99171DC8-E29A-E647-B5F7-6FA587A49226}" type="presParOf" srcId="{92F1DF26-A209-0F41-BE8E-AF1714C1F872}" destId="{4F389DC6-36EC-714D-BE54-0877CDC58696}" srcOrd="0" destOrd="0" presId="urn:microsoft.com/office/officeart/2016/7/layout/LinearBlockProcessNumbered"/>
    <dgm:cxn modelId="{85C7565C-A64F-CF43-905D-1097BF471DC1}" type="presParOf" srcId="{92F1DF26-A209-0F41-BE8E-AF1714C1F872}" destId="{DBBC0E66-06A5-C14B-AD1E-8744EAB7A767}" srcOrd="1" destOrd="0" presId="urn:microsoft.com/office/officeart/2016/7/layout/LinearBlockProcessNumbered"/>
    <dgm:cxn modelId="{D9C4C2D4-7B62-0941-A6AA-2BCBD61CC38F}" type="presParOf" srcId="{92F1DF26-A209-0F41-BE8E-AF1714C1F872}" destId="{E7A21263-6866-CB4E-9D41-4307F25DE4AC}" srcOrd="2" destOrd="0" presId="urn:microsoft.com/office/officeart/2016/7/layout/LinearBlockProcessNumbered"/>
    <dgm:cxn modelId="{690F71E9-8C58-2747-A8E4-8D0EC700B553}" type="presParOf" srcId="{FE3C0AA0-21AC-0C41-B7D8-51394A78355D}" destId="{582BFECD-E48A-6440-9EE9-823967CC3A05}" srcOrd="1" destOrd="0" presId="urn:microsoft.com/office/officeart/2016/7/layout/LinearBlockProcessNumbered"/>
    <dgm:cxn modelId="{DB9CA341-63C1-AB42-B30A-FF0B176B42F8}" type="presParOf" srcId="{FE3C0AA0-21AC-0C41-B7D8-51394A78355D}" destId="{5708D875-7706-8A40-9417-582F19AE9005}" srcOrd="2" destOrd="0" presId="urn:microsoft.com/office/officeart/2016/7/layout/LinearBlockProcessNumbered"/>
    <dgm:cxn modelId="{501EE83D-789E-D84B-9797-9A448AEE9328}" type="presParOf" srcId="{5708D875-7706-8A40-9417-582F19AE9005}" destId="{3B2C17DD-8D24-AB4F-AED8-C19142A36D25}" srcOrd="0" destOrd="0" presId="urn:microsoft.com/office/officeart/2016/7/layout/LinearBlockProcessNumbered"/>
    <dgm:cxn modelId="{C63301F0-0C5A-0647-B6B4-C800EAEC4687}" type="presParOf" srcId="{5708D875-7706-8A40-9417-582F19AE9005}" destId="{C938A153-0AAD-0F4B-91CC-37363CB00841}" srcOrd="1" destOrd="0" presId="urn:microsoft.com/office/officeart/2016/7/layout/LinearBlockProcessNumbered"/>
    <dgm:cxn modelId="{4B3C556C-D70F-8348-93A5-67441AC01AA1}" type="presParOf" srcId="{5708D875-7706-8A40-9417-582F19AE9005}" destId="{7C7CB412-429B-FB4F-8516-48C1EEF6B9DE}" srcOrd="2" destOrd="0" presId="urn:microsoft.com/office/officeart/2016/7/layout/LinearBlockProcessNumbered"/>
    <dgm:cxn modelId="{316F1A17-DD76-894E-AF85-4FE6DAA735BC}" type="presParOf" srcId="{FE3C0AA0-21AC-0C41-B7D8-51394A78355D}" destId="{910D97DB-7C6D-7445-8FF8-823001699584}" srcOrd="3" destOrd="0" presId="urn:microsoft.com/office/officeart/2016/7/layout/LinearBlockProcessNumbered"/>
    <dgm:cxn modelId="{11FBE2CF-42F1-B440-A0A3-9956CADCF190}" type="presParOf" srcId="{FE3C0AA0-21AC-0C41-B7D8-51394A78355D}" destId="{E8B9723A-8A15-0542-B891-86E214001143}" srcOrd="4" destOrd="0" presId="urn:microsoft.com/office/officeart/2016/7/layout/LinearBlockProcessNumbered"/>
    <dgm:cxn modelId="{962F8F6A-B125-D64F-84D8-27358CE089FE}" type="presParOf" srcId="{E8B9723A-8A15-0542-B891-86E214001143}" destId="{1D324A5A-F963-4243-9D97-5793D89C614C}" srcOrd="0" destOrd="0" presId="urn:microsoft.com/office/officeart/2016/7/layout/LinearBlockProcessNumbered"/>
    <dgm:cxn modelId="{70E1A814-CE8E-294C-9B71-BC26A7FAD612}" type="presParOf" srcId="{E8B9723A-8A15-0542-B891-86E214001143}" destId="{87171D98-85DC-9A44-869E-D85669CDBDCA}" srcOrd="1" destOrd="0" presId="urn:microsoft.com/office/officeart/2016/7/layout/LinearBlockProcessNumbered"/>
    <dgm:cxn modelId="{A89911A1-B7D4-CE4E-B178-315DF94F4975}" type="presParOf" srcId="{E8B9723A-8A15-0542-B891-86E214001143}" destId="{6BCDB43A-937C-9147-9D17-5079145E507B}" srcOrd="2" destOrd="0" presId="urn:microsoft.com/office/officeart/2016/7/layout/LinearBlockProcessNumbered"/>
    <dgm:cxn modelId="{10B457CF-A03B-AD42-8F64-337686DD424B}" type="presParOf" srcId="{FE3C0AA0-21AC-0C41-B7D8-51394A78355D}" destId="{286305B9-811E-4949-9936-1DD331463ACD}" srcOrd="5" destOrd="0" presId="urn:microsoft.com/office/officeart/2016/7/layout/LinearBlockProcessNumbered"/>
    <dgm:cxn modelId="{838F5871-C553-DF49-AD55-543C0C680433}" type="presParOf" srcId="{FE3C0AA0-21AC-0C41-B7D8-51394A78355D}" destId="{F7F5EC09-4979-934B-A451-D3AF9F3E8D67}" srcOrd="6" destOrd="0" presId="urn:microsoft.com/office/officeart/2016/7/layout/LinearBlockProcessNumbered"/>
    <dgm:cxn modelId="{787D1A64-2BF9-D140-9121-6E1772789ED5}" type="presParOf" srcId="{F7F5EC09-4979-934B-A451-D3AF9F3E8D67}" destId="{C2C3BC42-D5C7-004C-9757-9DCD47D9AAD7}" srcOrd="0" destOrd="0" presId="urn:microsoft.com/office/officeart/2016/7/layout/LinearBlockProcessNumbered"/>
    <dgm:cxn modelId="{254864E7-ACD0-7545-8C3E-1162E06B6666}" type="presParOf" srcId="{F7F5EC09-4979-934B-A451-D3AF9F3E8D67}" destId="{17EF134A-CAA2-D045-B6A3-0276CA2CF165}" srcOrd="1" destOrd="0" presId="urn:microsoft.com/office/officeart/2016/7/layout/LinearBlockProcessNumbered"/>
    <dgm:cxn modelId="{EAC570CF-F22B-A04D-B39C-1AC62827B2AD}" type="presParOf" srcId="{F7F5EC09-4979-934B-A451-D3AF9F3E8D67}" destId="{D96E1B79-162B-4F44-993D-C62C1A28F3D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DCA2FD-09F3-4627-813A-49E3BE9AD9A4}">
      <dsp:nvSpPr>
        <dsp:cNvPr id="0" name=""/>
        <dsp:cNvSpPr/>
      </dsp:nvSpPr>
      <dsp:spPr>
        <a:xfrm>
          <a:off x="849772" y="981726"/>
          <a:ext cx="1258737" cy="12587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E4BD3-1EF3-47F8-BC2F-D191AAB5101A}">
      <dsp:nvSpPr>
        <dsp:cNvPr id="0" name=""/>
        <dsp:cNvSpPr/>
      </dsp:nvSpPr>
      <dsp:spPr>
        <a:xfrm>
          <a:off x="1118028" y="1249981"/>
          <a:ext cx="722226" cy="7222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651C8-D016-4CC3-8CB9-D8A6F82DEAAE}">
      <dsp:nvSpPr>
        <dsp:cNvPr id="0" name=""/>
        <dsp:cNvSpPr/>
      </dsp:nvSpPr>
      <dsp:spPr>
        <a:xfrm>
          <a:off x="447389" y="2632529"/>
          <a:ext cx="2063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Identify customers at high risk of churn</a:t>
          </a:r>
          <a:endParaRPr lang="en-US" sz="1500" kern="1200"/>
        </a:p>
      </dsp:txBody>
      <dsp:txXfrm>
        <a:off x="447389" y="2632529"/>
        <a:ext cx="2063504" cy="720000"/>
      </dsp:txXfrm>
    </dsp:sp>
    <dsp:sp modelId="{05F4D9D6-A1C0-4217-8730-C1E9BDCAB57E}">
      <dsp:nvSpPr>
        <dsp:cNvPr id="0" name=""/>
        <dsp:cNvSpPr/>
      </dsp:nvSpPr>
      <dsp:spPr>
        <a:xfrm>
          <a:off x="3274390" y="981726"/>
          <a:ext cx="1258737" cy="12587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8D823-86D7-4924-8712-1BCD1A8227F6}">
      <dsp:nvSpPr>
        <dsp:cNvPr id="0" name=""/>
        <dsp:cNvSpPr/>
      </dsp:nvSpPr>
      <dsp:spPr>
        <a:xfrm>
          <a:off x="3542646" y="1249981"/>
          <a:ext cx="722226" cy="7222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FEF1E-CDBB-4EA6-BA1B-640491D98A6E}">
      <dsp:nvSpPr>
        <dsp:cNvPr id="0" name=""/>
        <dsp:cNvSpPr/>
      </dsp:nvSpPr>
      <dsp:spPr>
        <a:xfrm>
          <a:off x="2872007" y="2632529"/>
          <a:ext cx="2063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Understand key drivers of churn behavior</a:t>
          </a:r>
          <a:endParaRPr lang="en-US" sz="1500" kern="1200"/>
        </a:p>
      </dsp:txBody>
      <dsp:txXfrm>
        <a:off x="2872007" y="2632529"/>
        <a:ext cx="2063504" cy="720000"/>
      </dsp:txXfrm>
    </dsp:sp>
    <dsp:sp modelId="{302887D0-D144-4DD8-82A0-074783610996}">
      <dsp:nvSpPr>
        <dsp:cNvPr id="0" name=""/>
        <dsp:cNvSpPr/>
      </dsp:nvSpPr>
      <dsp:spPr>
        <a:xfrm>
          <a:off x="5699007" y="981726"/>
          <a:ext cx="1258737" cy="12587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C8224F-2A47-4823-8E39-63FD5656ED56}">
      <dsp:nvSpPr>
        <dsp:cNvPr id="0" name=""/>
        <dsp:cNvSpPr/>
      </dsp:nvSpPr>
      <dsp:spPr>
        <a:xfrm>
          <a:off x="5967263" y="1249981"/>
          <a:ext cx="722226" cy="7222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3CE6A-ECFE-496D-8ACD-F989222776CE}">
      <dsp:nvSpPr>
        <dsp:cNvPr id="0" name=""/>
        <dsp:cNvSpPr/>
      </dsp:nvSpPr>
      <dsp:spPr>
        <a:xfrm>
          <a:off x="5296624" y="2632529"/>
          <a:ext cx="2063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Support targeted retention strategies</a:t>
          </a:r>
          <a:endParaRPr lang="en-US" sz="1500" kern="1200"/>
        </a:p>
      </dsp:txBody>
      <dsp:txXfrm>
        <a:off x="5296624" y="2632529"/>
        <a:ext cx="2063504" cy="720000"/>
      </dsp:txXfrm>
    </dsp:sp>
    <dsp:sp modelId="{09F1EF1F-07AD-4714-BCA1-A4C758E01E3B}">
      <dsp:nvSpPr>
        <dsp:cNvPr id="0" name=""/>
        <dsp:cNvSpPr/>
      </dsp:nvSpPr>
      <dsp:spPr>
        <a:xfrm>
          <a:off x="8123625" y="981726"/>
          <a:ext cx="1258737" cy="125873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348A9F-3672-44E6-81F2-C4619EA449F4}">
      <dsp:nvSpPr>
        <dsp:cNvPr id="0" name=""/>
        <dsp:cNvSpPr/>
      </dsp:nvSpPr>
      <dsp:spPr>
        <a:xfrm>
          <a:off x="8391880" y="1249981"/>
          <a:ext cx="722226" cy="7222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A669DF-EBC3-47D6-BB66-72C51656CCD5}">
      <dsp:nvSpPr>
        <dsp:cNvPr id="0" name=""/>
        <dsp:cNvSpPr/>
      </dsp:nvSpPr>
      <dsp:spPr>
        <a:xfrm>
          <a:off x="7721242" y="2632529"/>
          <a:ext cx="2063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Improve customer lifetime value</a:t>
          </a:r>
          <a:endParaRPr lang="en-US" sz="1500" kern="1200"/>
        </a:p>
      </dsp:txBody>
      <dsp:txXfrm>
        <a:off x="7721242" y="2632529"/>
        <a:ext cx="206350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503D2-C465-4672-BEB9-28A0CF4D7CAE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ABEF12-1FC0-47E4-BD6F-E0CC66D4B303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4CC88-A38C-4350-9D68-34239E47093B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26.5% of customers have churned</a:t>
          </a:r>
          <a:endParaRPr lang="en-US" sz="2200" kern="1200"/>
        </a:p>
      </dsp:txBody>
      <dsp:txXfrm>
        <a:off x="1428292" y="2439"/>
        <a:ext cx="4873308" cy="1236616"/>
      </dsp:txXfrm>
    </dsp:sp>
    <dsp:sp modelId="{1F45CB05-43E2-4920-AC6F-3D5E769DAABB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AECF0-0FAD-4A1B-8825-DEEB91303895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B27621-42D7-4959-A117-3883E29D2CC6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Churn is concentrated among early-tenure customers</a:t>
          </a:r>
          <a:endParaRPr lang="en-US" sz="2200" kern="1200"/>
        </a:p>
      </dsp:txBody>
      <dsp:txXfrm>
        <a:off x="1428292" y="1548210"/>
        <a:ext cx="4873308" cy="1236616"/>
      </dsp:txXfrm>
    </dsp:sp>
    <dsp:sp modelId="{D730BF23-9C6E-4233-8313-7C47FC680D1D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9FC29A-4348-4CEB-9C28-98553A38A175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46C5E-734B-4D01-8ACB-82700A95E764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Month-to-month contracts show higher churn</a:t>
          </a:r>
          <a:endParaRPr lang="en-US" sz="2200" kern="1200"/>
        </a:p>
      </dsp:txBody>
      <dsp:txXfrm>
        <a:off x="1428292" y="3093981"/>
        <a:ext cx="4873308" cy="1236616"/>
      </dsp:txXfrm>
    </dsp:sp>
    <dsp:sp modelId="{1BB22893-D226-4DC6-B636-471D128F16F1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A076DA-5258-44A4-B0EC-604DEAFBAA3D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F2DBA-CD38-4168-9731-8A20C1B5A5DF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Fiber-optic customers have elevated churn risk</a:t>
          </a:r>
          <a:endParaRPr lang="en-US" sz="2200" kern="1200"/>
        </a:p>
      </dsp:txBody>
      <dsp:txXfrm>
        <a:off x="1428292" y="4639752"/>
        <a:ext cx="4873308" cy="1236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C34268-B5AB-480D-A955-71AD95AE4580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AC595C-07C1-488E-9E5C-1FC3F83A0FC2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B15A6C-7268-4427-ABA2-F18FF845F52B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Binary logistic regression model</a:t>
          </a:r>
          <a:endParaRPr lang="en-US" sz="2200" kern="1200"/>
        </a:p>
      </dsp:txBody>
      <dsp:txXfrm>
        <a:off x="1428292" y="2439"/>
        <a:ext cx="4873308" cy="1236616"/>
      </dsp:txXfrm>
    </dsp:sp>
    <dsp:sp modelId="{07266CE1-AE86-4637-8FBD-BD8C10753AD2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4FECDF-33CA-4BFF-A4EA-92BA918582BF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C0C94-D059-4B9D-A729-089166D0C13F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Predicts probability of customer churn</a:t>
          </a:r>
          <a:endParaRPr lang="en-US" sz="2200" kern="1200"/>
        </a:p>
      </dsp:txBody>
      <dsp:txXfrm>
        <a:off x="1428292" y="1548210"/>
        <a:ext cx="4873308" cy="1236616"/>
      </dsp:txXfrm>
    </dsp:sp>
    <dsp:sp modelId="{10358F3C-D1D8-42B1-BB77-E1F326673DA2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6F98F9-7FF2-4CA3-8462-5AAE26D3135C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C1ED5-118E-4EA6-AFED-26652ABB19B7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Chosen for interpretability and transparency</a:t>
          </a:r>
          <a:endParaRPr lang="en-US" sz="2200" kern="1200"/>
        </a:p>
      </dsp:txBody>
      <dsp:txXfrm>
        <a:off x="1428292" y="3093981"/>
        <a:ext cx="4873308" cy="1236616"/>
      </dsp:txXfrm>
    </dsp:sp>
    <dsp:sp modelId="{ACAC8B8E-F9F7-4059-AE76-4F44FDFD880B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D5E4DA-8DDE-44DC-93FC-F649D507664C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3630F-F1B2-49E6-871B-A59ED4EEA135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Key predictors: tenure, contract type, internet service, charges</a:t>
          </a:r>
          <a:endParaRPr lang="en-US" sz="2200" kern="1200"/>
        </a:p>
      </dsp:txBody>
      <dsp:txXfrm>
        <a:off x="1428292" y="4639752"/>
        <a:ext cx="4873308" cy="12366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BA035-3274-4773-A7C9-741BFCA69031}">
      <dsp:nvSpPr>
        <dsp:cNvPr id="0" name=""/>
        <dsp:cNvSpPr/>
      </dsp:nvSpPr>
      <dsp:spPr>
        <a:xfrm>
          <a:off x="104732" y="362863"/>
          <a:ext cx="1280378" cy="128037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B18BF9-FCD8-4143-8DB1-CB7535E9641F}">
      <dsp:nvSpPr>
        <dsp:cNvPr id="0" name=""/>
        <dsp:cNvSpPr/>
      </dsp:nvSpPr>
      <dsp:spPr>
        <a:xfrm>
          <a:off x="373612" y="631743"/>
          <a:ext cx="742619" cy="7426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E90F7-D7A0-4DB4-8AD0-4A864E98EA5D}">
      <dsp:nvSpPr>
        <dsp:cNvPr id="0" name=""/>
        <dsp:cNvSpPr/>
      </dsp:nvSpPr>
      <dsp:spPr>
        <a:xfrm>
          <a:off x="1659477" y="362863"/>
          <a:ext cx="3018034" cy="1280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Longer contracts significantly reduce churn risk</a:t>
          </a:r>
          <a:endParaRPr lang="en-US" sz="2400" kern="1200"/>
        </a:p>
      </dsp:txBody>
      <dsp:txXfrm>
        <a:off x="1659477" y="362863"/>
        <a:ext cx="3018034" cy="1280378"/>
      </dsp:txXfrm>
    </dsp:sp>
    <dsp:sp modelId="{B47A649B-07D5-4E44-9AF7-A01788AF56A3}">
      <dsp:nvSpPr>
        <dsp:cNvPr id="0" name=""/>
        <dsp:cNvSpPr/>
      </dsp:nvSpPr>
      <dsp:spPr>
        <a:xfrm>
          <a:off x="5203381" y="362863"/>
          <a:ext cx="1280378" cy="128037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A26B78-BEE6-4139-A685-9A2495C823CE}">
      <dsp:nvSpPr>
        <dsp:cNvPr id="0" name=""/>
        <dsp:cNvSpPr/>
      </dsp:nvSpPr>
      <dsp:spPr>
        <a:xfrm>
          <a:off x="5472260" y="631743"/>
          <a:ext cx="742619" cy="7426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88A531-899D-4B5C-84D5-E93A55BA131C}">
      <dsp:nvSpPr>
        <dsp:cNvPr id="0" name=""/>
        <dsp:cNvSpPr/>
      </dsp:nvSpPr>
      <dsp:spPr>
        <a:xfrm>
          <a:off x="6758126" y="362863"/>
          <a:ext cx="3018034" cy="1280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Two-year contracts reduce churn by approximately 85%</a:t>
          </a:r>
          <a:endParaRPr lang="en-US" sz="2400" kern="1200"/>
        </a:p>
      </dsp:txBody>
      <dsp:txXfrm>
        <a:off x="6758126" y="362863"/>
        <a:ext cx="3018034" cy="1280378"/>
      </dsp:txXfrm>
    </dsp:sp>
    <dsp:sp modelId="{EC444AE4-2665-44F2-B03D-8B1589EA7E53}">
      <dsp:nvSpPr>
        <dsp:cNvPr id="0" name=""/>
        <dsp:cNvSpPr/>
      </dsp:nvSpPr>
      <dsp:spPr>
        <a:xfrm>
          <a:off x="104732" y="2316377"/>
          <a:ext cx="1280378" cy="128037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7C2E4-D1D7-4055-8C10-D686A64BD4DD}">
      <dsp:nvSpPr>
        <dsp:cNvPr id="0" name=""/>
        <dsp:cNvSpPr/>
      </dsp:nvSpPr>
      <dsp:spPr>
        <a:xfrm>
          <a:off x="373612" y="2585256"/>
          <a:ext cx="742619" cy="7426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A42F3-D7BC-446F-A269-123E43EFAC30}">
      <dsp:nvSpPr>
        <dsp:cNvPr id="0" name=""/>
        <dsp:cNvSpPr/>
      </dsp:nvSpPr>
      <dsp:spPr>
        <a:xfrm>
          <a:off x="1659477" y="2316377"/>
          <a:ext cx="3018034" cy="1280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Fiber-optic customers are about three times more likely to churn</a:t>
          </a:r>
          <a:endParaRPr lang="en-US" sz="2400" kern="1200"/>
        </a:p>
      </dsp:txBody>
      <dsp:txXfrm>
        <a:off x="1659477" y="2316377"/>
        <a:ext cx="3018034" cy="1280378"/>
      </dsp:txXfrm>
    </dsp:sp>
    <dsp:sp modelId="{369EE217-A500-44CE-BD6E-3C29D79135CB}">
      <dsp:nvSpPr>
        <dsp:cNvPr id="0" name=""/>
        <dsp:cNvSpPr/>
      </dsp:nvSpPr>
      <dsp:spPr>
        <a:xfrm>
          <a:off x="5203381" y="2316377"/>
          <a:ext cx="1280378" cy="128037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5FC8BD-FC44-4124-888B-02A480C9E7ED}">
      <dsp:nvSpPr>
        <dsp:cNvPr id="0" name=""/>
        <dsp:cNvSpPr/>
      </dsp:nvSpPr>
      <dsp:spPr>
        <a:xfrm>
          <a:off x="5472260" y="2585256"/>
          <a:ext cx="742619" cy="7426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EE380D-7123-4A75-BA5A-0FEE83743E07}">
      <dsp:nvSpPr>
        <dsp:cNvPr id="0" name=""/>
        <dsp:cNvSpPr/>
      </dsp:nvSpPr>
      <dsp:spPr>
        <a:xfrm>
          <a:off x="6758126" y="2316377"/>
          <a:ext cx="3018034" cy="1280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Longer customer tenure lowers churn probability</a:t>
          </a:r>
          <a:endParaRPr lang="en-US" sz="2400" kern="1200"/>
        </a:p>
      </dsp:txBody>
      <dsp:txXfrm>
        <a:off x="6758126" y="2316377"/>
        <a:ext cx="3018034" cy="12803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389DC6-36EC-714D-BE54-0877CDC58696}">
      <dsp:nvSpPr>
        <dsp:cNvPr id="0" name=""/>
        <dsp:cNvSpPr/>
      </dsp:nvSpPr>
      <dsp:spPr>
        <a:xfrm>
          <a:off x="211" y="335770"/>
          <a:ext cx="2551881" cy="30622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/>
            <a:t>Encourage month-to-month customers to adopt longer contracts</a:t>
          </a:r>
          <a:endParaRPr lang="en-US" sz="2100" kern="1200" dirty="0"/>
        </a:p>
      </dsp:txBody>
      <dsp:txXfrm>
        <a:off x="211" y="1560673"/>
        <a:ext cx="2551881" cy="1837354"/>
      </dsp:txXfrm>
    </dsp:sp>
    <dsp:sp modelId="{DBBC0E66-06A5-C14B-AD1E-8744EAB7A767}">
      <dsp:nvSpPr>
        <dsp:cNvPr id="0" name=""/>
        <dsp:cNvSpPr/>
      </dsp:nvSpPr>
      <dsp:spPr>
        <a:xfrm>
          <a:off x="211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01</a:t>
          </a:r>
        </a:p>
      </dsp:txBody>
      <dsp:txXfrm>
        <a:off x="211" y="335770"/>
        <a:ext cx="2551881" cy="1224903"/>
      </dsp:txXfrm>
    </dsp:sp>
    <dsp:sp modelId="{3B2C17DD-8D24-AB4F-AED8-C19142A36D25}">
      <dsp:nvSpPr>
        <dsp:cNvPr id="0" name=""/>
        <dsp:cNvSpPr/>
      </dsp:nvSpPr>
      <dsp:spPr>
        <a:xfrm>
          <a:off x="2756243" y="335770"/>
          <a:ext cx="2551881" cy="30622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Focus retention efforts on early-tenure customers</a:t>
          </a:r>
          <a:endParaRPr lang="en-US" sz="2100" kern="1200"/>
        </a:p>
      </dsp:txBody>
      <dsp:txXfrm>
        <a:off x="2756243" y="1560673"/>
        <a:ext cx="2551881" cy="1837354"/>
      </dsp:txXfrm>
    </dsp:sp>
    <dsp:sp modelId="{C938A153-0AAD-0F4B-91CC-37363CB00841}">
      <dsp:nvSpPr>
        <dsp:cNvPr id="0" name=""/>
        <dsp:cNvSpPr/>
      </dsp:nvSpPr>
      <dsp:spPr>
        <a:xfrm>
          <a:off x="2756243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02</a:t>
          </a:r>
        </a:p>
      </dsp:txBody>
      <dsp:txXfrm>
        <a:off x="2756243" y="335770"/>
        <a:ext cx="2551881" cy="1224903"/>
      </dsp:txXfrm>
    </dsp:sp>
    <dsp:sp modelId="{1D324A5A-F963-4243-9D97-5793D89C614C}">
      <dsp:nvSpPr>
        <dsp:cNvPr id="0" name=""/>
        <dsp:cNvSpPr/>
      </dsp:nvSpPr>
      <dsp:spPr>
        <a:xfrm>
          <a:off x="5512275" y="335770"/>
          <a:ext cx="2551881" cy="30622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Provide proactive support to fiber-optic customers</a:t>
          </a:r>
          <a:endParaRPr lang="en-US" sz="2100" kern="1200"/>
        </a:p>
      </dsp:txBody>
      <dsp:txXfrm>
        <a:off x="5512275" y="1560673"/>
        <a:ext cx="2551881" cy="1837354"/>
      </dsp:txXfrm>
    </dsp:sp>
    <dsp:sp modelId="{87171D98-85DC-9A44-869E-D85669CDBDCA}">
      <dsp:nvSpPr>
        <dsp:cNvPr id="0" name=""/>
        <dsp:cNvSpPr/>
      </dsp:nvSpPr>
      <dsp:spPr>
        <a:xfrm>
          <a:off x="5512275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03</a:t>
          </a:r>
        </a:p>
      </dsp:txBody>
      <dsp:txXfrm>
        <a:off x="5512275" y="335770"/>
        <a:ext cx="2551881" cy="1224903"/>
      </dsp:txXfrm>
    </dsp:sp>
    <dsp:sp modelId="{C2C3BC42-D5C7-004C-9757-9DCD47D9AAD7}">
      <dsp:nvSpPr>
        <dsp:cNvPr id="0" name=""/>
        <dsp:cNvSpPr/>
      </dsp:nvSpPr>
      <dsp:spPr>
        <a:xfrm>
          <a:off x="8268307" y="335770"/>
          <a:ext cx="2551881" cy="30622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0" rIns="25206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Use churn probabilities for targeted retention campaigns</a:t>
          </a:r>
          <a:endParaRPr lang="en-US" sz="2100" kern="1200"/>
        </a:p>
      </dsp:txBody>
      <dsp:txXfrm>
        <a:off x="8268307" y="1560673"/>
        <a:ext cx="2551881" cy="1837354"/>
      </dsp:txXfrm>
    </dsp:sp>
    <dsp:sp modelId="{17EF134A-CAA2-D045-B6A3-0276CA2CF165}">
      <dsp:nvSpPr>
        <dsp:cNvPr id="0" name=""/>
        <dsp:cNvSpPr/>
      </dsp:nvSpPr>
      <dsp:spPr>
        <a:xfrm>
          <a:off x="8268307" y="335770"/>
          <a:ext cx="2551881" cy="122490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069" tIns="165100" rIns="252069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04</a:t>
          </a:r>
        </a:p>
      </dsp:txBody>
      <dsp:txXfrm>
        <a:off x="8268307" y="335770"/>
        <a:ext cx="2551881" cy="1224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6B1A-4DCB-5FEB-7394-42E283A45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3B37C-839D-BADC-EF6D-0C734BEF0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62B7B-D6E2-E2F3-45A4-6AB1E0BB0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5A74-F445-ED49-BAAE-FE8858921EF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B62DE-5EDD-1754-6082-97992C173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482DE-3AF5-5C6D-97AD-8BD1C25C0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2514-FEC9-C542-A972-1935D71A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2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E766A-A724-A67E-76F7-02123D27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D38F7-5634-D97C-6C23-7F4B50D5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56C9F-3A4E-151E-22B7-0DC9BD51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5A74-F445-ED49-BAAE-FE8858921EF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EDB5E-EA7D-31C8-D915-1EC382B2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E83E7-E146-8F74-1D4B-52B153CA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2514-FEC9-C542-A972-1935D71A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97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A62E1-F9A0-3D30-547F-1E8E9C856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4C8BC-8359-0029-D53E-3B74E54EF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620C4-74B1-AC45-D580-EF9D987E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5A74-F445-ED49-BAAE-FE8858921EF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E1821-E661-40C9-8FC3-3E235A1F9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8D289-5C3A-0D8E-75C6-20DA2935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2514-FEC9-C542-A972-1935D71A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02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E7976-21BB-2962-E23E-8167E8CA5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CC275-3D41-1CEB-3D72-9D7B18D54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E7CC9-D7B5-7134-C354-D75628DEA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D4C9D-E7B3-1DE0-09FC-92C7DEB1B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5A74-F445-ED49-BAAE-FE8858921EF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943A7-B8B2-B74C-74BD-C956365A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D7830-9D7B-D1D9-43D4-460B11C1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2514-FEC9-C542-A972-1935D71A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54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4AA6-5FA1-3614-4F53-F86EE5884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DC4C2-9464-CABC-FE2D-8EE0B8A5C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EE468-76DB-52B6-4AAA-6A0FE565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1F567-560B-DA4B-948C-58C1CF272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A49A5-8175-0DDE-CC00-657F0F519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B042E8-F110-5AB8-7AE9-F7927D97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5A74-F445-ED49-BAAE-FE8858921EF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F13A5-87E0-B2DA-D513-218267BC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41B576-52B2-C903-BF94-875FBABE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2514-FEC9-C542-A972-1935D71A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34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C11B1-DB1B-03B0-DCC2-B5E1EF99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62B4F3-15E9-12B4-9A33-F5D6637CB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5A74-F445-ED49-BAAE-FE8858921EF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E6AAB-6B66-5DF8-3926-EE6B6D01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80FD26-B0C0-BCE4-2F36-284FD0FDE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2514-FEC9-C542-A972-1935D71A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1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3732D-5A3F-EA71-A7AA-E2C72D474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5A74-F445-ED49-BAAE-FE8858921EF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35B944-8BCF-29D6-4F2D-6B15C76D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287B6-7E29-082C-2996-79326695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2514-FEC9-C542-A972-1935D71A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93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9EBA7-7E05-6257-37E1-18BF6F5BF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86480-0C51-47DF-111D-6B99AA8C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9BFC3-3B9D-B4A8-4DA4-BA94E9291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5ACD8-BB4F-91C0-C665-2608DCE46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5A74-F445-ED49-BAAE-FE8858921EF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E2DB6-D2D2-A4FC-29ED-ABABDA8A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0DAB4-4B53-95AB-D5BF-2A173688B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2514-FEC9-C542-A972-1935D71A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6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B0813-1E29-5EDE-7DDA-DBD8173C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BE651D-26AC-F520-39D7-271FD45AAC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69C5C-C4E3-0F56-ED86-86F6A7EEC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A3217-8C27-1418-0A92-BAFCC318A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5A74-F445-ED49-BAAE-FE8858921EF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DC0D8-A888-9B57-DCAC-7F87F495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A6F6B-36CC-9521-D236-1FDEDE7F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2514-FEC9-C542-A972-1935D71A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8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AF59-4DEB-44FB-B6B3-C17338EA9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8EC20-01E1-45FC-65FE-EF634F335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13360-06C4-A0E1-8CA6-247C803C7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5A74-F445-ED49-BAAE-FE8858921EF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8244F-2C8B-DA75-87FB-74FBA3DA5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739A9-136C-4C6F-491D-C730654D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2514-FEC9-C542-A972-1935D71A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7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7054E8-5FD9-8E7D-41E5-69D333C36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55E877-BF6F-2BB0-5AA7-89DBA3C78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45E4F-27A6-80D2-2319-F95318D0A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5A74-F445-ED49-BAAE-FE8858921EF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5F221-6D98-ACB1-DCC4-18B3161B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CB927-C331-BE16-B9C3-84AFE140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2514-FEC9-C542-A972-1935D71A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55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0F6C-95BE-A468-EB86-E4C0EC06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0F7F5-2BF6-C60F-C37B-7C5D703FA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58BC5-F9BA-B939-A45F-6C5B779D2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D5A74-F445-ED49-BAAE-FE8858921EF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45965-8251-B802-463F-8310F7EFE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51B5C-6B3A-D0B8-F045-8E0D5F717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2E2514-FEC9-C542-A972-1935D71A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2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aphic 38">
            <a:extLst>
              <a:ext uri="{FF2B5EF4-FFF2-40B4-BE49-F238E27FC236}">
                <a16:creationId xmlns:a16="http://schemas.microsoft.com/office/drawing/2014/main" id="{F0E417D8-88AA-4184-A08D-DEF97C6C9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85795" y="1690979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CB4E045-9FB0-41C4-AC74-479EA20D8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D21C7A48-09EB-4AF0-84CB-7EE408C2C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DDE3270-A872-4E10-80BC-B93D6F0E3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6E5F32-B5B2-45E3-9C18-BBC9005C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45E68B-E61B-4EAE-9672-3A52AEC2B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6263" y="1119679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7338E-538D-03CF-2F26-5E7E1FE9A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2788" y="2172350"/>
            <a:ext cx="4502041" cy="1801418"/>
          </a:xfrm>
        </p:spPr>
        <p:txBody>
          <a:bodyPr>
            <a:norm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Who Is Likely to Leave?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63DD1BD1-81FE-4F15-A934-E9AE94AE9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120AB9A0-C0C4-43DA-9A34-FA3A4079D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8815DD1-EC9D-4BE1-846B-8BEF57D39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B78D2B9-C9C4-4A37-A12C-A09FC1158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DFC7EBB5-848C-4B1C-BE84-4CF07E90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59707" y="3876466"/>
            <a:ext cx="1056155" cy="105615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F8315F3-A078-427A-92BE-34EC9E574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3DFAF5C-63B0-43FB-80BE-CC45D99F5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AD937F2-A44A-479C-A7EB-4EE7686A9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7834CC3-9461-418F-A593-FC09CD79B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D68AA1C-0667-46EE-A8BE-CAAA3EAF9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0F403B5-430A-450F-97C1-73160966C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B38EBB0-5161-46F3-83D7-D9F478B1A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47EDFA5-AD01-40BE-91A2-A0C178622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6E0C47E-FE2F-4A8C-942E-1026D02D3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A309DA7-4C25-40F5-AC21-DA06D9C98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290F5FA-D4BF-4264-A8E9-365566EC7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47FD6B5-9B47-4500-9D65-7BD217301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CA06612-80DE-4467-A50C-0CB390D6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F9E28AB8-6CD7-84EA-4B5B-EAA9C09DF3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952" y="6030594"/>
            <a:ext cx="20762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Mohammed Baobaid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Hamed Al-Saedi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Majid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Tayfour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ED4BE1-BA10-2B61-FA73-4E0961DE4254}"/>
              </a:ext>
            </a:extLst>
          </p:cNvPr>
          <p:cNvSpPr txBox="1"/>
          <p:nvPr/>
        </p:nvSpPr>
        <p:spPr>
          <a:xfrm>
            <a:off x="3652620" y="4888499"/>
            <a:ext cx="4879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Predicting Customer Churn in a Telecom Company</a:t>
            </a:r>
          </a:p>
        </p:txBody>
      </p:sp>
    </p:spTree>
    <p:extLst>
      <p:ext uri="{BB962C8B-B14F-4D97-AF65-F5344CB8AC3E}">
        <p14:creationId xmlns:p14="http://schemas.microsoft.com/office/powerpoint/2010/main" val="4198851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B34B2E-B542-F654-FCD7-4E1899DD4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499503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Business Context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2300" dirty="0">
                <a:solidFill>
                  <a:schemeClr val="bg1"/>
                </a:solidFill>
              </a:rPr>
              <a:t>Why Customer Churn Matters</a:t>
            </a:r>
            <a:br>
              <a:rPr lang="en-GB" sz="4000" dirty="0"/>
            </a:b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1EDBB66-44C2-FC5A-9326-05BAB366DF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5548" y="2217343"/>
            <a:ext cx="9880893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Highly competitive telecom market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Stable customer acquisition but stagnant revenue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Customer churn reduces long-term profitability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Retaining customers is cheaper than acquiring new ones</a:t>
            </a:r>
          </a:p>
        </p:txBody>
      </p:sp>
    </p:spTree>
    <p:extLst>
      <p:ext uri="{BB962C8B-B14F-4D97-AF65-F5344CB8AC3E}">
        <p14:creationId xmlns:p14="http://schemas.microsoft.com/office/powerpoint/2010/main" val="3378324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E94740-3A9C-F39F-6B54-5C9C96C2C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GB" sz="4000" dirty="0"/>
              <a:t>Business Objective</a:t>
            </a:r>
            <a:br>
              <a:rPr lang="en-GB" sz="4000" dirty="0"/>
            </a:br>
            <a:r>
              <a:rPr lang="en-GB" sz="2100" dirty="0"/>
              <a:t>What Management Needs to Know</a:t>
            </a:r>
            <a:endParaRPr lang="en-US" sz="2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7D6E28B-7895-95D0-F697-9CD9EE25C2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5433754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72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10B20-B15F-A0DD-5DBE-B83FB57F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530186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Data Overview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2300" dirty="0">
                <a:solidFill>
                  <a:schemeClr val="bg1"/>
                </a:solidFill>
              </a:rPr>
              <a:t>Telco Customer Churn Dataset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230930-905C-A95B-5AFE-0FF03A96C8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5548" y="2217343"/>
            <a:ext cx="9880893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Source: Kaggle Telco Customer Churn dataset</a:t>
            </a:r>
          </a:p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7,043 individual customer records</a:t>
            </a:r>
          </a:p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Unit of analysis: customer account</a:t>
            </a:r>
          </a:p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Target variable: Churn (Yes / No)</a:t>
            </a:r>
          </a:p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Variables include demographics, services, and billing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575109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92450B-622A-25AE-FAA7-ACBDA1E9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0" y="2354664"/>
            <a:ext cx="4139510" cy="1333620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Exploratory Insights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0C41B8A-D0CF-BFEF-FCBB-22A5142DBA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677143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4EBE8A-233F-EB2F-937E-C17628CEB798}"/>
              </a:ext>
            </a:extLst>
          </p:cNvPr>
          <p:cNvSpPr txBox="1"/>
          <p:nvPr/>
        </p:nvSpPr>
        <p:spPr>
          <a:xfrm>
            <a:off x="601676" y="3702166"/>
            <a:ext cx="39406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100" dirty="0">
                <a:solidFill>
                  <a:schemeClr val="bg1"/>
                </a:solidFill>
              </a:rPr>
              <a:t>Key Patterns in Customer Churn</a:t>
            </a:r>
            <a:endParaRPr lang="en-US" sz="2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41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C0C3C1-EAEF-6417-9441-43C6DFD2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43094"/>
            <a:ext cx="4890596" cy="1332350"/>
          </a:xfrm>
        </p:spPr>
        <p:txBody>
          <a:bodyPr>
            <a:normAutofit/>
          </a:bodyPr>
          <a:lstStyle/>
          <a:p>
            <a:pPr algn="ctr"/>
            <a:r>
              <a:rPr lang="en-GB" dirty="0" err="1">
                <a:solidFill>
                  <a:schemeClr val="bg1"/>
                </a:solidFill>
              </a:rPr>
              <a:t>Modeling</a:t>
            </a:r>
            <a:r>
              <a:rPr lang="en-GB" dirty="0">
                <a:solidFill>
                  <a:schemeClr val="bg1"/>
                </a:solidFill>
              </a:rPr>
              <a:t> Approach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C5A1C35-30AE-1824-C208-8D7E057C16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64188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B969769-E9E5-D7AB-125C-8D4341DFFABA}"/>
              </a:ext>
            </a:extLst>
          </p:cNvPr>
          <p:cNvSpPr txBox="1"/>
          <p:nvPr/>
        </p:nvSpPr>
        <p:spPr>
          <a:xfrm>
            <a:off x="833606" y="3367695"/>
            <a:ext cx="32233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dirty="0">
                <a:solidFill>
                  <a:schemeClr val="bg1"/>
                </a:solidFill>
              </a:rPr>
              <a:t>How Churn Was Predicted</a:t>
            </a:r>
          </a:p>
        </p:txBody>
      </p:sp>
    </p:spTree>
    <p:extLst>
      <p:ext uri="{BB962C8B-B14F-4D97-AF65-F5344CB8AC3E}">
        <p14:creationId xmlns:p14="http://schemas.microsoft.com/office/powerpoint/2010/main" val="1899476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FC017-9F04-5216-96E5-8E8DFA8DB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597421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Key Model Results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2300" dirty="0">
                <a:solidFill>
                  <a:schemeClr val="bg1"/>
                </a:solidFill>
              </a:rPr>
              <a:t>Main Drivers of Customer Churn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40272168-06B5-38A9-E542-5DCE566530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5548" y="2217343"/>
          <a:ext cx="9880893" cy="3959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142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86904-44FC-8DA3-9530-35F1C4C74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934327"/>
            <a:ext cx="8924392" cy="1058275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Model Performance</a:t>
            </a:r>
            <a:br>
              <a:rPr lang="en-GB" dirty="0"/>
            </a:br>
            <a:r>
              <a:rPr lang="en-GB" sz="2300" dirty="0"/>
              <a:t>How Well Does the Model Work?</a:t>
            </a:r>
            <a:endParaRPr lang="en-US" sz="23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3813" y="2337807"/>
            <a:ext cx="9604374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2190741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58F6C-4226-18F7-F966-3CC24DA91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207" y="2752316"/>
            <a:ext cx="8309586" cy="2756848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GB" sz="2000" dirty="0"/>
              <a:t>Accuracy: approximately 77.6%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AUC: approximately 0.82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High specificity at default threshold</a:t>
            </a:r>
          </a:p>
          <a:p>
            <a:pPr>
              <a:lnSpc>
                <a:spcPct val="200000"/>
              </a:lnSpc>
            </a:pPr>
            <a:r>
              <a:rPr lang="en-GB" sz="2000" dirty="0"/>
              <a:t>Threshold tuning increases sensitivity to over 80%</a:t>
            </a:r>
          </a:p>
        </p:txBody>
      </p:sp>
    </p:spTree>
    <p:extLst>
      <p:ext uri="{BB962C8B-B14F-4D97-AF65-F5344CB8AC3E}">
        <p14:creationId xmlns:p14="http://schemas.microsoft.com/office/powerpoint/2010/main" val="3153746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Freeform: Shape 15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B98D23-B1CE-F6AE-7185-CFD5873D3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212" y="990599"/>
            <a:ext cx="9959788" cy="1146628"/>
          </a:xfrm>
        </p:spPr>
        <p:txBody>
          <a:bodyPr anchor="t">
            <a:normAutofit/>
          </a:bodyPr>
          <a:lstStyle/>
          <a:p>
            <a:r>
              <a:rPr lang="en-GB" sz="4000" dirty="0"/>
              <a:t>Managerial Recommendations</a:t>
            </a:r>
            <a:br>
              <a:rPr lang="en-GB" sz="4000" dirty="0"/>
            </a:br>
            <a:r>
              <a:rPr lang="en-GB" sz="2300" dirty="0"/>
              <a:t>Turning Insights into Action</a:t>
            </a:r>
            <a:endParaRPr lang="en-US" sz="2300" dirty="0"/>
          </a:p>
        </p:txBody>
      </p:sp>
      <p:graphicFrame>
        <p:nvGraphicFramePr>
          <p:cNvPr id="42" name="Rectangle 1">
            <a:extLst>
              <a:ext uri="{FF2B5EF4-FFF2-40B4-BE49-F238E27FC236}">
                <a16:creationId xmlns:a16="http://schemas.microsoft.com/office/drawing/2014/main" id="{0F53B3C5-830A-575B-6C47-29AC850C4D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9889868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253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6590AA-FF68-D7FC-1559-7BB10DBD0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597421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Conclusion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2300" dirty="0">
                <a:solidFill>
                  <a:schemeClr val="bg1"/>
                </a:solidFill>
              </a:rPr>
              <a:t>Business Value of Predictive Analytics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E219C0-170C-DDB8-3EFF-368D78F26B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5548" y="2217343"/>
            <a:ext cx="9880893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Identifies customers most likely to churn</a:t>
            </a:r>
          </a:p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Supports proactive and data-driven retention strategies</a:t>
            </a:r>
          </a:p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Improves allocation of retention resources</a:t>
            </a:r>
          </a:p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Enhances long-term profitability</a:t>
            </a:r>
          </a:p>
        </p:txBody>
      </p:sp>
    </p:spTree>
    <p:extLst>
      <p:ext uri="{BB962C8B-B14F-4D97-AF65-F5344CB8AC3E}">
        <p14:creationId xmlns:p14="http://schemas.microsoft.com/office/powerpoint/2010/main" val="2556078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203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C906A8-6088-E329-1B33-9A05BB58F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</a:rPr>
              <a:t>Thank You</a:t>
            </a:r>
          </a:p>
        </p:txBody>
      </p: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6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329</Words>
  <Application>Microsoft Macintosh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Who Is Likely to Leave?</vt:lpstr>
      <vt:lpstr>Business Context Why Customer Churn Matters </vt:lpstr>
      <vt:lpstr>Business Objective What Management Needs to Know</vt:lpstr>
      <vt:lpstr>Data Overview Telco Customer Churn Dataset</vt:lpstr>
      <vt:lpstr>Exploratory Insights</vt:lpstr>
      <vt:lpstr>Modeling Approach</vt:lpstr>
      <vt:lpstr>Key Model Results Main Drivers of Customer Churn</vt:lpstr>
      <vt:lpstr>Model Performance How Well Does the Model Work?</vt:lpstr>
      <vt:lpstr>Managerial Recommendations Turning Insights into Action</vt:lpstr>
      <vt:lpstr>Conclusion Business Value of Predictive Analytics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Abobaker Baobaid</dc:creator>
  <cp:lastModifiedBy>Mohammed Abobaker Baobaid</cp:lastModifiedBy>
  <cp:revision>1</cp:revision>
  <dcterms:created xsi:type="dcterms:W3CDTF">2026-01-20T16:03:44Z</dcterms:created>
  <dcterms:modified xsi:type="dcterms:W3CDTF">2026-01-20T16:33:41Z</dcterms:modified>
</cp:coreProperties>
</file>